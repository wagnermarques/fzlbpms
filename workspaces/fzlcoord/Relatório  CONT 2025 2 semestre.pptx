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83" r:id="rId1"/>
  </p:sldMasterIdLst>
  <p:notesMasterIdLst>
    <p:notesMasterId r:id="rId21"/>
  </p:notesMasterIdLst>
  <p:handoutMasterIdLst>
    <p:handoutMasterId r:id="rId22"/>
  </p:handoutMasterIdLst>
  <p:sldIdLst>
    <p:sldId id="257" r:id="rId2"/>
    <p:sldId id="290" r:id="rId3"/>
    <p:sldId id="304" r:id="rId4"/>
    <p:sldId id="305" r:id="rId5"/>
    <p:sldId id="306" r:id="rId6"/>
    <p:sldId id="307" r:id="rId7"/>
    <p:sldId id="259" r:id="rId8"/>
    <p:sldId id="298" r:id="rId9"/>
    <p:sldId id="292" r:id="rId10"/>
    <p:sldId id="301" r:id="rId11"/>
    <p:sldId id="302" r:id="rId12"/>
    <p:sldId id="293" r:id="rId13"/>
    <p:sldId id="294" r:id="rId14"/>
    <p:sldId id="296" r:id="rId15"/>
    <p:sldId id="297" r:id="rId16"/>
    <p:sldId id="299" r:id="rId17"/>
    <p:sldId id="291" r:id="rId18"/>
    <p:sldId id="300" r:id="rId19"/>
    <p:sldId id="29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60"/>
  </p:normalViewPr>
  <p:slideViewPr>
    <p:cSldViewPr snapToGrid="0">
      <p:cViewPr varScale="1">
        <p:scale>
          <a:sx n="90" d="100"/>
          <a:sy n="90" d="100"/>
        </p:scale>
        <p:origin x="52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C3E0910-793C-46A0-8623-CEAD4857882F}" type="datetime1">
              <a:rPr lang="pt-BR" smtClean="0"/>
              <a:t>06/07/2026</a:t>
            </a:fld>
            <a:endParaRPr lang="en-US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D92CB86-0DB9-4A70-B1CF-B23508471F6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5764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9EE704A-765A-48C7-8594-25B15929F837}" type="datetime1">
              <a:rPr lang="pt-BR" smtClean="0"/>
              <a:t>06/07/2026</a:t>
            </a:fld>
            <a:endParaRPr lang="en-US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/>
              <a:t>Clique para editar o texto Mestre</a:t>
            </a:r>
            <a:endParaRPr lang="en-US"/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2B151B-D7D1-48E5-8230-5AADBC794F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927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E92B5B4-4D0A-4964-A1A3-B85B0EE00890}" type="datetime1">
              <a:rPr lang="pt-BR" smtClean="0"/>
              <a:t>06/07/2026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87410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6BA6665-D630-4C43-9989-3D086DA68E5F}" type="datetime1">
              <a:rPr lang="pt-BR" smtClean="0"/>
              <a:t>06/07/2026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589340"/>
      </p:ext>
    </p:extLst>
  </p:cSld>
  <p:clrMapOvr>
    <a:masterClrMapping/>
  </p:clrMapOvr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A251DFA-97D2-4C90-9100-D1173CC96C37}" type="datetime1">
              <a:rPr lang="pt-BR" smtClean="0"/>
              <a:t>06/07/2026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47586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6BA6665-D630-4C43-9989-3D086DA68E5F}" type="datetime1">
              <a:rPr lang="pt-BR" smtClean="0"/>
              <a:t>06/07/2026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245116"/>
      </p:ext>
    </p:extLst>
  </p:cSld>
  <p:clrMapOvr>
    <a:masterClrMapping/>
  </p:clrMapOvr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6BA6665-D630-4C43-9989-3D086DA68E5F}" type="datetime1">
              <a:rPr lang="pt-BR" smtClean="0"/>
              <a:t>06/07/2026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8638535"/>
      </p:ext>
    </p:extLst>
  </p:cSld>
  <p:clrMapOvr>
    <a:masterClrMapping/>
  </p:clrMapOvr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6BA6665-D630-4C43-9989-3D086DA68E5F}" type="datetime1">
              <a:rPr lang="pt-BR" smtClean="0"/>
              <a:t>06/07/2026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685678"/>
      </p:ext>
    </p:extLst>
  </p:cSld>
  <p:clrMapOvr>
    <a:masterClrMapping/>
  </p:clrMapOvr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6BA6665-D630-4C43-9989-3D086DA68E5F}" type="datetime1">
              <a:rPr lang="pt-BR" smtClean="0"/>
              <a:t>06/07/2026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2747733"/>
      </p:ext>
    </p:extLst>
  </p:cSld>
  <p:clrMapOvr>
    <a:masterClrMapping/>
  </p:clrMapOvr>
  <p:hf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6BA6665-D630-4C43-9989-3D086DA68E5F}" type="datetime1">
              <a:rPr lang="pt-BR" smtClean="0"/>
              <a:t>06/07/2026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6217033"/>
      </p:ext>
    </p:extLst>
  </p:cSld>
  <p:clrMapOvr>
    <a:masterClrMapping/>
  </p:clrMapOvr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pPr rtl="0"/>
            <a:fld id="{3D5E4E1C-696A-4E82-B6DD-87ECA4CC925A}" type="datetime1">
              <a:rPr lang="pt-BR" smtClean="0"/>
              <a:t>06/07/2026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pPr algn="l" rtl="0"/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0599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6BA6665-D630-4C43-9989-3D086DA68E5F}" type="datetime1">
              <a:rPr lang="pt-BR" smtClean="0"/>
              <a:t>06/07/2026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07592"/>
      </p:ext>
    </p:extLst>
  </p:cSld>
  <p:clrMapOvr>
    <a:masterClrMapping/>
  </p:clrMapOvr>
  <p:hf sldNum="0"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6BA6665-D630-4C43-9989-3D086DA68E5F}" type="datetime1">
              <a:rPr lang="pt-BR" smtClean="0"/>
              <a:t>06/07/2026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32806"/>
      </p:ext>
    </p:extLst>
  </p:cSld>
  <p:clrMapOvr>
    <a:masterClrMapping/>
  </p:clrMapOvr>
  <p:hf sldNum="0"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 rtl="0"/>
            <a:fld id="{66BA6665-D630-4C43-9989-3D086DA68E5F}" type="datetime1">
              <a:rPr lang="pt-BR" smtClean="0"/>
              <a:t>06/07/2026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5471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4" r:id="rId1"/>
    <p:sldLayoutId id="2147483985" r:id="rId2"/>
    <p:sldLayoutId id="2147483986" r:id="rId3"/>
    <p:sldLayoutId id="2147483987" r:id="rId4"/>
    <p:sldLayoutId id="2147483988" r:id="rId5"/>
    <p:sldLayoutId id="2147483989" r:id="rId6"/>
    <p:sldLayoutId id="2147483990" r:id="rId7"/>
    <p:sldLayoutId id="2147483991" r:id="rId8"/>
    <p:sldLayoutId id="2147483992" r:id="rId9"/>
    <p:sldLayoutId id="2147483993" r:id="rId10"/>
    <p:sldLayoutId id="2147483994" r:id="rId11"/>
  </p:sldLayoutIdLst>
  <p:hf sldNum="0" hdr="0" ft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2F62E2CA-0AAE-438B-AB5B-E827B85798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Subtítulo 8">
            <a:extLst>
              <a:ext uri="{FF2B5EF4-FFF2-40B4-BE49-F238E27FC236}">
                <a16:creationId xmlns:a16="http://schemas.microsoft.com/office/drawing/2014/main" id="{2E3624E5-1A5D-4CA9-80A0-95FCEFEE9A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211" y="3843867"/>
            <a:ext cx="10419217" cy="1947333"/>
          </a:xfrm>
        </p:spPr>
        <p:txBody>
          <a:bodyPr>
            <a:normAutofit fontScale="77500" lnSpcReduction="20000"/>
          </a:bodyPr>
          <a:lstStyle/>
          <a:p>
            <a:pPr algn="r"/>
            <a:endParaRPr lang="pt-BR" b="1" dirty="0">
              <a:solidFill>
                <a:schemeClr val="bg1"/>
              </a:solidFill>
            </a:endParaRPr>
          </a:p>
          <a:p>
            <a:pPr algn="r"/>
            <a:endParaRPr lang="pt-BR" b="1" dirty="0">
              <a:solidFill>
                <a:schemeClr val="bg1"/>
              </a:solidFill>
            </a:endParaRPr>
          </a:p>
          <a:p>
            <a:pPr algn="r"/>
            <a:endParaRPr lang="pt-BR" b="1" dirty="0">
              <a:solidFill>
                <a:schemeClr val="bg1"/>
              </a:solidFill>
            </a:endParaRPr>
          </a:p>
          <a:p>
            <a:pPr algn="r"/>
            <a:r>
              <a:rPr lang="pt-BR" b="1" dirty="0">
                <a:solidFill>
                  <a:schemeClr val="bg1"/>
                </a:solidFill>
              </a:rPr>
              <a:t>RELATÓRIO DE ENCERRAMENTO</a:t>
            </a:r>
          </a:p>
          <a:p>
            <a:pPr algn="r"/>
            <a:r>
              <a:rPr lang="pt-BR" b="1" dirty="0">
                <a:solidFill>
                  <a:schemeClr val="bg1"/>
                </a:solidFill>
              </a:rPr>
              <a:t>DO CURSO DE </a:t>
            </a:r>
          </a:p>
          <a:p>
            <a:pPr algn="r"/>
            <a:r>
              <a:rPr lang="pt-BR" b="1" dirty="0">
                <a:solidFill>
                  <a:schemeClr val="bg1"/>
                </a:solidFill>
              </a:rPr>
              <a:t>CONTABILIDADE – 2025-02</a:t>
            </a:r>
          </a:p>
        </p:txBody>
      </p: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354AA-0A79-5D8D-C29A-D50582E0A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604112-66A6-9560-F96C-00936E01C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249168"/>
            <a:ext cx="8534400" cy="1507067"/>
          </a:xfrm>
        </p:spPr>
        <p:txBody>
          <a:bodyPr/>
          <a:lstStyle/>
          <a:p>
            <a:pPr algn="ctr"/>
            <a:r>
              <a:rPr lang="pt-BR" dirty="0"/>
              <a:t>Alunos matriculados – 2025 -02</a:t>
            </a:r>
            <a:br>
              <a:rPr lang="pt-BR" dirty="0"/>
            </a:br>
            <a:r>
              <a:rPr lang="pt-BR" dirty="0"/>
              <a:t>CONTABILIDADE</a:t>
            </a:r>
          </a:p>
        </p:txBody>
      </p:sp>
      <p:graphicFrame>
        <p:nvGraphicFramePr>
          <p:cNvPr id="6" name="Espaço Reservado para Conteúdo 5">
            <a:extLst>
              <a:ext uri="{FF2B5EF4-FFF2-40B4-BE49-F238E27FC236}">
                <a16:creationId xmlns:a16="http://schemas.microsoft.com/office/drawing/2014/main" id="{412882C7-D5A3-4083-8538-8AFF22D04E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0332144"/>
              </p:ext>
            </p:extLst>
          </p:nvPr>
        </p:nvGraphicFramePr>
        <p:xfrm>
          <a:off x="1705491" y="2370010"/>
          <a:ext cx="8534400" cy="26295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5530">
                  <a:extLst>
                    <a:ext uri="{9D8B030D-6E8A-4147-A177-3AD203B41FA5}">
                      <a16:colId xmlns:a16="http://schemas.microsoft.com/office/drawing/2014/main" val="3422092410"/>
                    </a:ext>
                  </a:extLst>
                </a:gridCol>
                <a:gridCol w="1031230">
                  <a:extLst>
                    <a:ext uri="{9D8B030D-6E8A-4147-A177-3AD203B41FA5}">
                      <a16:colId xmlns:a16="http://schemas.microsoft.com/office/drawing/2014/main" val="1430064151"/>
                    </a:ext>
                  </a:extLst>
                </a:gridCol>
                <a:gridCol w="1229141">
                  <a:extLst>
                    <a:ext uri="{9D8B030D-6E8A-4147-A177-3AD203B41FA5}">
                      <a16:colId xmlns:a16="http://schemas.microsoft.com/office/drawing/2014/main" val="2611714374"/>
                    </a:ext>
                  </a:extLst>
                </a:gridCol>
                <a:gridCol w="878774">
                  <a:extLst>
                    <a:ext uri="{9D8B030D-6E8A-4147-A177-3AD203B41FA5}">
                      <a16:colId xmlns:a16="http://schemas.microsoft.com/office/drawing/2014/main" val="413313960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348267121"/>
                    </a:ext>
                  </a:extLst>
                </a:gridCol>
                <a:gridCol w="2984068">
                  <a:extLst>
                    <a:ext uri="{9D8B030D-6E8A-4147-A177-3AD203B41FA5}">
                      <a16:colId xmlns:a16="http://schemas.microsoft.com/office/drawing/2014/main" val="800043372"/>
                    </a:ext>
                  </a:extLst>
                </a:gridCol>
              </a:tblGrid>
              <a:tr h="345987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CURSO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84" marR="7584" marT="758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TURMAS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84" marR="7584" marT="758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MATRICULADOS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84" marR="7584" marT="758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CURSANDO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84" marR="7584" marT="758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OCORRÊNCIAS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84" marR="7584" marT="758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OBSERVAÇÕES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84" marR="7584" marT="7584" marB="0" anchor="b"/>
                </a:tc>
                <a:extLst>
                  <a:ext uri="{0D108BD9-81ED-4DB2-BD59-A6C34878D82A}">
                    <a16:rowId xmlns:a16="http://schemas.microsoft.com/office/drawing/2014/main" val="1623404374"/>
                  </a:ext>
                </a:extLst>
              </a:tr>
              <a:tr h="678134">
                <a:tc rowSpan="3">
                  <a:txBody>
                    <a:bodyPr/>
                    <a:lstStyle/>
                    <a:p>
                      <a:pPr algn="ctr" rtl="0" fontAlgn="t"/>
                      <a:r>
                        <a:rPr lang="pt-BR" sz="1100" u="none" strike="noStrike">
                          <a:effectLst/>
                        </a:rPr>
                        <a:t>TÉCNICO EM CONTABILIDADE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84" marR="7584" marT="7584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1100" u="none" strike="noStrike">
                          <a:effectLst/>
                        </a:rPr>
                        <a:t>1º MÓDULO - B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84" marR="7584" marT="7584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1600" u="none" strike="noStrike">
                          <a:effectLst/>
                        </a:rPr>
                        <a:t>25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84" marR="7584" marT="7584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1600" u="none" strike="noStrike">
                          <a:effectLst/>
                        </a:rPr>
                        <a:t>21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84" marR="7584" marT="7584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1600" u="none" strike="noStrike">
                          <a:effectLst/>
                        </a:rPr>
                        <a:t>13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84" marR="7584" marT="7584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u="none" strike="noStrike">
                          <a:effectLst/>
                        </a:rPr>
                        <a:t>OCORRÊNCIAS APENAS DE CIÊNCIA DA FREQUÊNCIA PELA ORIENTADORA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84" marR="7584" marT="7584" marB="0" anchor="b"/>
                </a:tc>
                <a:extLst>
                  <a:ext uri="{0D108BD9-81ED-4DB2-BD59-A6C34878D82A}">
                    <a16:rowId xmlns:a16="http://schemas.microsoft.com/office/drawing/2014/main" val="2576659878"/>
                  </a:ext>
                </a:extLst>
              </a:tr>
              <a:tr h="719653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1100" u="none" strike="noStrike">
                          <a:effectLst/>
                        </a:rPr>
                        <a:t>2º MÓDULO - B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84" marR="7584" marT="7584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1600" u="none" strike="noStrike">
                          <a:effectLst/>
                        </a:rPr>
                        <a:t>34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84" marR="7584" marT="7584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1600" u="none" strike="noStrike">
                          <a:effectLst/>
                        </a:rPr>
                        <a:t>33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84" marR="7584" marT="7584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1600" u="none" strike="noStrike" dirty="0">
                          <a:effectLst/>
                        </a:rPr>
                        <a:t>00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84" marR="7584" marT="7584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u="none" strike="noStrike">
                          <a:effectLst/>
                        </a:rPr>
                        <a:t> 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84" marR="7584" marT="7584" marB="0" anchor="b"/>
                </a:tc>
                <a:extLst>
                  <a:ext uri="{0D108BD9-81ED-4DB2-BD59-A6C34878D82A}">
                    <a16:rowId xmlns:a16="http://schemas.microsoft.com/office/drawing/2014/main" val="1213442563"/>
                  </a:ext>
                </a:extLst>
              </a:tr>
              <a:tr h="885727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pt-BR" sz="1100" u="none" strike="noStrike">
                          <a:effectLst/>
                        </a:rPr>
                        <a:t>Total do Curso: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84" marR="7584" marT="7584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1600" u="none" strike="noStrike">
                          <a:effectLst/>
                        </a:rPr>
                        <a:t>59</a:t>
                      </a:r>
                      <a:endParaRPr lang="pt-BR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84" marR="7584" marT="7584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1600" u="none" strike="noStrike" dirty="0">
                          <a:effectLst/>
                        </a:rPr>
                        <a:t>54</a:t>
                      </a:r>
                      <a:endParaRPr lang="pt-BR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84" marR="7584" marT="7584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1600" u="none" strike="noStrike" dirty="0">
                          <a:effectLst/>
                        </a:rPr>
                        <a:t>13</a:t>
                      </a:r>
                      <a:endParaRPr lang="pt-BR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84" marR="7584" marT="7584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u="none" strike="noStrike" dirty="0">
                          <a:effectLst/>
                        </a:rPr>
                        <a:t> 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84" marR="7584" marT="7584" marB="0" anchor="b"/>
                </a:tc>
                <a:extLst>
                  <a:ext uri="{0D108BD9-81ED-4DB2-BD59-A6C34878D82A}">
                    <a16:rowId xmlns:a16="http://schemas.microsoft.com/office/drawing/2014/main" val="3372396087"/>
                  </a:ext>
                </a:extLst>
              </a:tr>
            </a:tbl>
          </a:graphicData>
        </a:graphic>
      </p:graphicFrame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EB87D5-CB0E-DA37-7711-B1C3E4200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6BA6665-D630-4C43-9989-3D086DA68E5F}" type="datetime1">
              <a:rPr lang="pt-BR" smtClean="0"/>
              <a:t>06/07/2026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224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F12F06-6ADD-4AC8-A145-A548C1584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Gráfico de Matrículas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E07B022-AFED-49A4-9754-03DADA752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6BA6665-D630-4C43-9989-3D086DA68E5F}" type="datetime1">
              <a:rPr lang="pt-BR" smtClean="0"/>
              <a:t>06/07/2026</a:t>
            </a:fld>
            <a:endParaRPr lang="en-US" dirty="0"/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327B0CBD-BBAC-438D-8603-2DDE08003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13ABDDE1-E762-41A5-BBA6-114A0A38D0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3650" y="2390834"/>
            <a:ext cx="7124700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025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6610A2-B1F9-472A-87EF-FE92F5B47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EVASÃO</a:t>
            </a:r>
          </a:p>
        </p:txBody>
      </p:sp>
      <p:graphicFrame>
        <p:nvGraphicFramePr>
          <p:cNvPr id="5" name="Espaço Reservado para Conteúdo 4">
            <a:extLst>
              <a:ext uri="{FF2B5EF4-FFF2-40B4-BE49-F238E27FC236}">
                <a16:creationId xmlns:a16="http://schemas.microsoft.com/office/drawing/2014/main" id="{63C2AA0A-3F85-4F3D-A454-2882B59DE9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1906335"/>
              </p:ext>
            </p:extLst>
          </p:nvPr>
        </p:nvGraphicFramePr>
        <p:xfrm>
          <a:off x="1386671" y="2521840"/>
          <a:ext cx="8932985" cy="3716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43488">
                  <a:extLst>
                    <a:ext uri="{9D8B030D-6E8A-4147-A177-3AD203B41FA5}">
                      <a16:colId xmlns:a16="http://schemas.microsoft.com/office/drawing/2014/main" val="3486540701"/>
                    </a:ext>
                  </a:extLst>
                </a:gridCol>
                <a:gridCol w="2914381">
                  <a:extLst>
                    <a:ext uri="{9D8B030D-6E8A-4147-A177-3AD203B41FA5}">
                      <a16:colId xmlns:a16="http://schemas.microsoft.com/office/drawing/2014/main" val="2794981789"/>
                    </a:ext>
                  </a:extLst>
                </a:gridCol>
                <a:gridCol w="2450201">
                  <a:extLst>
                    <a:ext uri="{9D8B030D-6E8A-4147-A177-3AD203B41FA5}">
                      <a16:colId xmlns:a16="http://schemas.microsoft.com/office/drawing/2014/main" val="769842316"/>
                    </a:ext>
                  </a:extLst>
                </a:gridCol>
                <a:gridCol w="1824915">
                  <a:extLst>
                    <a:ext uri="{9D8B030D-6E8A-4147-A177-3AD203B41FA5}">
                      <a16:colId xmlns:a16="http://schemas.microsoft.com/office/drawing/2014/main" val="3322410188"/>
                    </a:ext>
                  </a:extLst>
                </a:gridCol>
              </a:tblGrid>
              <a:tr h="413213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u="none" strike="noStrike">
                          <a:effectLst/>
                        </a:rPr>
                        <a:t>TURMAS</a:t>
                      </a:r>
                      <a:endParaRPr lang="pt-BR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u="none" strike="noStrike">
                          <a:effectLst/>
                        </a:rPr>
                        <a:t>DESISTENTE</a:t>
                      </a:r>
                      <a:endParaRPr lang="pt-BR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u="none" strike="noStrike">
                          <a:effectLst/>
                        </a:rPr>
                        <a:t>EVADIDO</a:t>
                      </a:r>
                      <a:endParaRPr lang="pt-BR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u="none" strike="noStrike">
                          <a:effectLst/>
                        </a:rPr>
                        <a:t>TRANCADO</a:t>
                      </a:r>
                      <a:endParaRPr lang="pt-BR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90780163"/>
                  </a:ext>
                </a:extLst>
              </a:tr>
              <a:tr h="890902"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1400" u="none" strike="noStrike">
                          <a:effectLst/>
                        </a:rPr>
                        <a:t>1º MÓDULO - B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2000" u="none" strike="noStrike" dirty="0">
                          <a:effectLst/>
                        </a:rPr>
                        <a:t>1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2000" u="none" strike="noStrike" dirty="0">
                          <a:effectLst/>
                        </a:rPr>
                        <a:t>1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2000" u="none" strike="noStrike">
                          <a:effectLst/>
                        </a:rPr>
                        <a:t>2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3980351619"/>
                  </a:ext>
                </a:extLst>
              </a:tr>
              <a:tr h="890902"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1400" u="none" strike="noStrike">
                          <a:effectLst/>
                        </a:rPr>
                        <a:t>2º MÓDULO - B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2000" u="none" strike="noStrike">
                          <a:effectLst/>
                        </a:rPr>
                        <a:t>0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2000" u="none" strike="noStrike">
                          <a:effectLst/>
                        </a:rPr>
                        <a:t>0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2000" u="none" strike="noStrike">
                          <a:effectLst/>
                        </a:rPr>
                        <a:t>1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247161095"/>
                  </a:ext>
                </a:extLst>
              </a:tr>
              <a:tr h="631057"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1400" u="none" strike="noStrike">
                          <a:effectLst/>
                        </a:rPr>
                        <a:t> 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2000" u="none" strike="noStrike">
                          <a:effectLst/>
                        </a:rPr>
                        <a:t> 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2000" u="none" strike="noStrike">
                          <a:effectLst/>
                        </a:rPr>
                        <a:t> 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2000" u="none" strike="noStrike">
                          <a:effectLst/>
                        </a:rPr>
                        <a:t> 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500303892"/>
                  </a:ext>
                </a:extLst>
              </a:tr>
              <a:tr h="890902">
                <a:tc>
                  <a:txBody>
                    <a:bodyPr/>
                    <a:lstStyle/>
                    <a:p>
                      <a:pPr algn="r" rtl="0" fontAlgn="t"/>
                      <a:r>
                        <a:rPr lang="pt-BR" sz="1400" u="none" strike="noStrike">
                          <a:effectLst/>
                        </a:rPr>
                        <a:t>Total do Curso:</a:t>
                      </a:r>
                      <a:endParaRPr lang="pt-BR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2000" u="none" strike="noStrike">
                          <a:effectLst/>
                        </a:rPr>
                        <a:t>1</a:t>
                      </a:r>
                      <a:endParaRPr lang="pt-BR" sz="2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2000" u="none" strike="noStrike">
                          <a:effectLst/>
                        </a:rPr>
                        <a:t>1</a:t>
                      </a:r>
                      <a:endParaRPr lang="pt-BR" sz="2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2000" u="none" strike="noStrike" dirty="0">
                          <a:effectLst/>
                        </a:rPr>
                        <a:t>3</a:t>
                      </a:r>
                      <a:endParaRPr lang="pt-BR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379728051"/>
                  </a:ext>
                </a:extLst>
              </a:tr>
            </a:tbl>
          </a:graphicData>
        </a:graphic>
      </p:graphicFrame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9947E20-D698-485B-9311-76D56DBD7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6BA6665-D630-4C43-9989-3D086DA68E5F}" type="datetime1">
              <a:rPr lang="pt-BR" smtClean="0"/>
              <a:t>06/07/2026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3905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C0D084-74D1-4DDF-8B0E-E1AD87303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NÚMERO DE MATRICULADOS POR SEMESTRE - PAINEL GERAL</a:t>
            </a:r>
          </a:p>
        </p:txBody>
      </p:sp>
      <p:graphicFrame>
        <p:nvGraphicFramePr>
          <p:cNvPr id="5" name="Espaço Reservado para Conteúdo 4">
            <a:extLst>
              <a:ext uri="{FF2B5EF4-FFF2-40B4-BE49-F238E27FC236}">
                <a16:creationId xmlns:a16="http://schemas.microsoft.com/office/drawing/2014/main" id="{022EA086-2EA2-4B2C-8FC4-5F2C9C2EAE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3211736"/>
              </p:ext>
            </p:extLst>
          </p:nvPr>
        </p:nvGraphicFramePr>
        <p:xfrm>
          <a:off x="2021393" y="2264891"/>
          <a:ext cx="8149214" cy="351839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90516">
                  <a:extLst>
                    <a:ext uri="{9D8B030D-6E8A-4147-A177-3AD203B41FA5}">
                      <a16:colId xmlns:a16="http://schemas.microsoft.com/office/drawing/2014/main" val="3917069170"/>
                    </a:ext>
                  </a:extLst>
                </a:gridCol>
                <a:gridCol w="3548077">
                  <a:extLst>
                    <a:ext uri="{9D8B030D-6E8A-4147-A177-3AD203B41FA5}">
                      <a16:colId xmlns:a16="http://schemas.microsoft.com/office/drawing/2014/main" val="2440184918"/>
                    </a:ext>
                  </a:extLst>
                </a:gridCol>
                <a:gridCol w="1345822">
                  <a:extLst>
                    <a:ext uri="{9D8B030D-6E8A-4147-A177-3AD203B41FA5}">
                      <a16:colId xmlns:a16="http://schemas.microsoft.com/office/drawing/2014/main" val="1687135306"/>
                    </a:ext>
                  </a:extLst>
                </a:gridCol>
                <a:gridCol w="1664799">
                  <a:extLst>
                    <a:ext uri="{9D8B030D-6E8A-4147-A177-3AD203B41FA5}">
                      <a16:colId xmlns:a16="http://schemas.microsoft.com/office/drawing/2014/main" val="4098746955"/>
                    </a:ext>
                  </a:extLst>
                </a:gridCol>
              </a:tblGrid>
              <a:tr h="849012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u="none" strike="noStrike">
                          <a:effectLst/>
                        </a:rPr>
                        <a:t>TURMAS</a:t>
                      </a:r>
                      <a:endParaRPr lang="pt-BR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u="none" strike="noStrike" dirty="0">
                          <a:effectLst/>
                        </a:rPr>
                        <a:t>MATRICULADOS</a:t>
                      </a:r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u="none" strike="noStrike">
                          <a:effectLst/>
                        </a:rPr>
                        <a:t>CURSANDO</a:t>
                      </a:r>
                      <a:endParaRPr lang="pt-BR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u="none" strike="noStrike">
                          <a:effectLst/>
                        </a:rPr>
                        <a:t>DESISTENTE</a:t>
                      </a:r>
                      <a:endParaRPr lang="pt-BR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41735812"/>
                  </a:ext>
                </a:extLst>
              </a:tr>
              <a:tr h="889794"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1400" u="none" strike="noStrike">
                          <a:effectLst/>
                        </a:rPr>
                        <a:t>1º MÓDULO - B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2000" u="none" strike="noStrike" dirty="0">
                          <a:effectLst/>
                        </a:rPr>
                        <a:t>25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2000" u="none" strike="noStrike" dirty="0">
                          <a:effectLst/>
                        </a:rPr>
                        <a:t>21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2000" u="none" strike="noStrike">
                          <a:effectLst/>
                        </a:rPr>
                        <a:t>4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2866100512"/>
                  </a:ext>
                </a:extLst>
              </a:tr>
              <a:tr h="889794"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1400" u="none" strike="noStrike">
                          <a:effectLst/>
                        </a:rPr>
                        <a:t>2º MÓDULO - B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2000" u="none" strike="noStrike">
                          <a:effectLst/>
                        </a:rPr>
                        <a:t>34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2000" u="none" strike="noStrike" dirty="0">
                          <a:effectLst/>
                        </a:rPr>
                        <a:t>33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2000" u="none" strike="noStrike" dirty="0">
                          <a:effectLst/>
                        </a:rPr>
                        <a:t>1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2489864391"/>
                  </a:ext>
                </a:extLst>
              </a:tr>
              <a:tr h="889794">
                <a:tc>
                  <a:txBody>
                    <a:bodyPr/>
                    <a:lstStyle/>
                    <a:p>
                      <a:pPr algn="r" rtl="0" fontAlgn="t"/>
                      <a:r>
                        <a:rPr lang="pt-BR" sz="1400" u="none" strike="noStrike">
                          <a:effectLst/>
                        </a:rPr>
                        <a:t>Total do Curso:</a:t>
                      </a:r>
                      <a:endParaRPr lang="pt-BR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2000" u="none" strike="noStrike" dirty="0">
                          <a:effectLst/>
                        </a:rPr>
                        <a:t>59</a:t>
                      </a:r>
                      <a:endParaRPr lang="pt-BR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2000" u="none" strike="noStrike" dirty="0">
                          <a:effectLst/>
                        </a:rPr>
                        <a:t>54</a:t>
                      </a:r>
                      <a:endParaRPr lang="pt-BR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2000" u="none" strike="noStrike" dirty="0">
                          <a:effectLst/>
                        </a:rPr>
                        <a:t>5</a:t>
                      </a:r>
                      <a:endParaRPr lang="pt-BR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932087341"/>
                  </a:ext>
                </a:extLst>
              </a:tr>
            </a:tbl>
          </a:graphicData>
        </a:graphic>
      </p:graphicFrame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C32AF04-C210-4F70-BE6B-DC7195756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6BA6665-D630-4C43-9989-3D086DA68E5F}" type="datetime1">
              <a:rPr lang="pt-BR" smtClean="0"/>
              <a:t>06/07/2026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0310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209F57-D118-45BD-8C8E-31B15CD92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Número de Ocorrências</a:t>
            </a:r>
          </a:p>
        </p:txBody>
      </p:sp>
      <p:graphicFrame>
        <p:nvGraphicFramePr>
          <p:cNvPr id="5" name="Espaço Reservado para Conteúdo 4">
            <a:extLst>
              <a:ext uri="{FF2B5EF4-FFF2-40B4-BE49-F238E27FC236}">
                <a16:creationId xmlns:a16="http://schemas.microsoft.com/office/drawing/2014/main" id="{BD6B1C02-A660-425B-90A8-126C856679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1808529"/>
              </p:ext>
            </p:extLst>
          </p:nvPr>
        </p:nvGraphicFramePr>
        <p:xfrm>
          <a:off x="838200" y="2708539"/>
          <a:ext cx="10515600" cy="163253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34508">
                  <a:extLst>
                    <a:ext uri="{9D8B030D-6E8A-4147-A177-3AD203B41FA5}">
                      <a16:colId xmlns:a16="http://schemas.microsoft.com/office/drawing/2014/main" val="3120734232"/>
                    </a:ext>
                  </a:extLst>
                </a:gridCol>
                <a:gridCol w="2307748">
                  <a:extLst>
                    <a:ext uri="{9D8B030D-6E8A-4147-A177-3AD203B41FA5}">
                      <a16:colId xmlns:a16="http://schemas.microsoft.com/office/drawing/2014/main" val="2355250045"/>
                    </a:ext>
                  </a:extLst>
                </a:gridCol>
                <a:gridCol w="2000806">
                  <a:extLst>
                    <a:ext uri="{9D8B030D-6E8A-4147-A177-3AD203B41FA5}">
                      <a16:colId xmlns:a16="http://schemas.microsoft.com/office/drawing/2014/main" val="401073919"/>
                    </a:ext>
                  </a:extLst>
                </a:gridCol>
                <a:gridCol w="5172538">
                  <a:extLst>
                    <a:ext uri="{9D8B030D-6E8A-4147-A177-3AD203B41FA5}">
                      <a16:colId xmlns:a16="http://schemas.microsoft.com/office/drawing/2014/main" val="3284908443"/>
                    </a:ext>
                  </a:extLst>
                </a:gridCol>
              </a:tblGrid>
              <a:tr h="213154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u="none" strike="noStrike">
                          <a:effectLst/>
                        </a:rPr>
                        <a:t>TURMAS</a:t>
                      </a:r>
                      <a:endParaRPr lang="pt-BR" sz="13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26" marR="8526" marT="852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u="none" strike="noStrike">
                          <a:effectLst/>
                        </a:rPr>
                        <a:t>MATRICULADOS</a:t>
                      </a:r>
                      <a:endParaRPr lang="pt-BR" sz="13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26" marR="8526" marT="852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u="none" strike="noStrike">
                          <a:effectLst/>
                        </a:rPr>
                        <a:t>NÚMERO DE OCORRÊNCIAS</a:t>
                      </a:r>
                      <a:endParaRPr lang="pt-BR" sz="13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26" marR="8526" marT="852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u="none" strike="noStrike">
                          <a:effectLst/>
                        </a:rPr>
                        <a:t>OBSERVAÇÃO</a:t>
                      </a:r>
                      <a:endParaRPr lang="pt-BR" sz="13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26" marR="8526" marT="8526" marB="0" anchor="b"/>
                </a:tc>
                <a:extLst>
                  <a:ext uri="{0D108BD9-81ED-4DB2-BD59-A6C34878D82A}">
                    <a16:rowId xmlns:a16="http://schemas.microsoft.com/office/drawing/2014/main" val="1189408828"/>
                  </a:ext>
                </a:extLst>
              </a:tr>
              <a:tr h="409256"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1300" u="none" strike="noStrike">
                          <a:effectLst/>
                        </a:rPr>
                        <a:t>1º MÓDULO - B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26" marR="8526" marT="8526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1800" u="none" strike="noStrike">
                          <a:effectLst/>
                        </a:rPr>
                        <a:t>25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26" marR="8526" marT="8526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1800" u="none" strike="noStrike" dirty="0">
                          <a:effectLst/>
                        </a:rPr>
                        <a:t>13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26" marR="8526" marT="8526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u="none" strike="noStrike">
                          <a:effectLst/>
                        </a:rPr>
                        <a:t>OCORRENCIAS GERADAS PELA OE PARA ACOMPANHAMENTO DE FALTAS</a:t>
                      </a:r>
                      <a:endParaRPr lang="pt-BR" sz="13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26" marR="8526" marT="8526" marB="0" anchor="b"/>
                </a:tc>
                <a:extLst>
                  <a:ext uri="{0D108BD9-81ED-4DB2-BD59-A6C34878D82A}">
                    <a16:rowId xmlns:a16="http://schemas.microsoft.com/office/drawing/2014/main" val="531789008"/>
                  </a:ext>
                </a:extLst>
              </a:tr>
              <a:tr h="409256"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1300" u="none" strike="noStrike">
                          <a:effectLst/>
                        </a:rPr>
                        <a:t>2º MÓDULO - B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26" marR="8526" marT="8526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1800" u="none" strike="noStrike">
                          <a:effectLst/>
                        </a:rPr>
                        <a:t>34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26" marR="8526" marT="8526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1800" u="none" strike="noStrike">
                          <a:effectLst/>
                        </a:rPr>
                        <a:t>0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26" marR="8526" marT="8526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1800" u="none" strike="noStrike">
                          <a:effectLst/>
                        </a:rPr>
                        <a:t> 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26" marR="8526" marT="8526" marB="0"/>
                </a:tc>
                <a:extLst>
                  <a:ext uri="{0D108BD9-81ED-4DB2-BD59-A6C34878D82A}">
                    <a16:rowId xmlns:a16="http://schemas.microsoft.com/office/drawing/2014/main" val="2387248269"/>
                  </a:ext>
                </a:extLst>
              </a:tr>
              <a:tr h="409256">
                <a:tc>
                  <a:txBody>
                    <a:bodyPr/>
                    <a:lstStyle/>
                    <a:p>
                      <a:pPr algn="r" rtl="0" fontAlgn="t"/>
                      <a:r>
                        <a:rPr lang="pt-BR" sz="1300" u="none" strike="noStrike">
                          <a:effectLst/>
                        </a:rPr>
                        <a:t>Total do Curso:</a:t>
                      </a:r>
                      <a:endParaRPr lang="pt-BR" sz="13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26" marR="8526" marT="8526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1800" u="none" strike="noStrike">
                          <a:effectLst/>
                        </a:rPr>
                        <a:t>59</a:t>
                      </a:r>
                      <a:endParaRPr lang="pt-BR" sz="1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26" marR="8526" marT="8526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1800" u="none" strike="noStrike">
                          <a:effectLst/>
                        </a:rPr>
                        <a:t>13</a:t>
                      </a:r>
                      <a:endParaRPr lang="pt-BR" sz="1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26" marR="8526" marT="8526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pt-BR" sz="1800" u="none" strike="noStrike" dirty="0">
                          <a:effectLst/>
                        </a:rPr>
                        <a:t> </a:t>
                      </a:r>
                      <a:endParaRPr lang="pt-BR" sz="1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26" marR="8526" marT="8526" marB="0"/>
                </a:tc>
                <a:extLst>
                  <a:ext uri="{0D108BD9-81ED-4DB2-BD59-A6C34878D82A}">
                    <a16:rowId xmlns:a16="http://schemas.microsoft.com/office/drawing/2014/main" val="3032895"/>
                  </a:ext>
                </a:extLst>
              </a:tr>
            </a:tbl>
          </a:graphicData>
        </a:graphic>
      </p:graphicFrame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84C9E4D-5F33-4A3B-9FE2-AD9AB5E83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6BA6665-D630-4C43-9989-3D086DA68E5F}" type="datetime1">
              <a:rPr lang="pt-BR" smtClean="0"/>
              <a:t>06/07/2026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778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601DDB-FDD1-490A-E98B-4E18BAEDC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5645" y="685799"/>
            <a:ext cx="8001000" cy="297180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/>
              <a:t>Integração 18/09/2025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7E20DE7-7753-54D8-8593-A33022E8D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spcAft>
                <a:spcPts val="600"/>
              </a:spcAft>
            </a:pPr>
            <a:endParaRPr lang="en-US" sz="1000" b="0" i="0" kern="1200" dirty="0">
              <a:solidFill>
                <a:schemeClr val="bg2">
                  <a:lumMod val="50000"/>
                </a:schemeClr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19166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886334-7495-D701-AA52-F8E681C5A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Acolhimento e orientações iniciais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7E178E0-24E9-4705-A466-41F44A8AA1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BE6331-292F-AE8A-0A97-013116BE4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6BA6665-D630-4C43-9989-3D086DA68E5F}" type="datetime1">
              <a:rPr lang="pt-BR" smtClean="0"/>
              <a:t>06/07/2026</a:t>
            </a:fld>
            <a:endParaRPr lang="en-US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8BB7F2F-1AC5-4E49-BEA2-63FA7C6EC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3803" y="2433636"/>
            <a:ext cx="8193974" cy="3922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473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7AB20C-4A8B-4E9F-E71F-7233468A8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F574683-321B-1660-A59F-9310DDD38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spcAft>
                <a:spcPts val="600"/>
              </a:spcAft>
            </a:pPr>
            <a:fld id="{623252B5-F3E6-4058-A723-196087E9E541}" type="datetime1">
              <a:rPr lang="en-US" b="0" i="0" kern="1200" dirty="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7/6/2026</a:t>
            </a:fld>
            <a:endParaRPr lang="en-US" b="0" i="0" kern="1200" dirty="0">
              <a:solidFill>
                <a:schemeClr val="bg2">
                  <a:lumMod val="50000"/>
                </a:schemeClr>
              </a:solidFill>
              <a:effectLst/>
              <a:latin typeface="+mn-lt"/>
              <a:ea typeface="+mn-ea"/>
              <a:cs typeface="+mn-cs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EF4A726-F242-6209-AB76-9C7577A575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864" t="22446" r="27475" b="20887"/>
          <a:stretch/>
        </p:blipFill>
        <p:spPr>
          <a:xfrm>
            <a:off x="-281517" y="8467"/>
            <a:ext cx="5943600" cy="3886201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034FDB29-2EEB-A05B-856D-A2934E6761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821" t="39512" r="24784" b="21357"/>
          <a:stretch/>
        </p:blipFill>
        <p:spPr>
          <a:xfrm>
            <a:off x="5762095" y="288926"/>
            <a:ext cx="6324599" cy="2383971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3EAAA894-5CE4-2732-380F-41D843CFC86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8215" t="21588" r="40677" b="26031"/>
          <a:stretch/>
        </p:blipFill>
        <p:spPr>
          <a:xfrm>
            <a:off x="5907834" y="2740172"/>
            <a:ext cx="2573564" cy="3592287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60296513-8F8B-634B-4375-32BB0642EE3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8315" t="21746" r="39857" b="27430"/>
          <a:stretch/>
        </p:blipFill>
        <p:spPr>
          <a:xfrm>
            <a:off x="8873360" y="2846991"/>
            <a:ext cx="2661264" cy="3485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093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354B3-0AAF-C3D6-D6C4-2E98C4850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PALESTRA – EMPREENDEDORISMO, COMO GANHAR DINHEIRO. 11/09/2025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BF412CA-0418-AD40-5F01-5B3623036B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DE4D2C7-BC86-723D-645F-D058ECBED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6BA6665-D630-4C43-9989-3D086DA68E5F}" type="datetime1">
              <a:rPr lang="pt-BR" smtClean="0"/>
              <a:t>06/07/2026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9817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60F5F4-C460-40C4-950E-5795B005F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4841657"/>
            <a:ext cx="8534400" cy="1507067"/>
          </a:xfrm>
        </p:spPr>
        <p:txBody>
          <a:bodyPr>
            <a:normAutofit/>
          </a:bodyPr>
          <a:lstStyle/>
          <a:p>
            <a:r>
              <a:rPr lang="pt-BR" dirty="0"/>
              <a:t>PALESTRA – EMPREENDEDORISMO, COMO GANHAR DINHEIRO. </a:t>
            </a:r>
            <a:r>
              <a:rPr lang="pt-BR" dirty="0" err="1"/>
              <a:t>Profª</a:t>
            </a:r>
            <a:r>
              <a:rPr lang="pt-BR" dirty="0"/>
              <a:t> IEDA</a:t>
            </a:r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2C8FEB62-DB5C-C5CF-E512-00DFAADD58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2752" t="22285" r="21517" b="24112"/>
          <a:stretch/>
        </p:blipFill>
        <p:spPr>
          <a:xfrm>
            <a:off x="1105571" y="81190"/>
            <a:ext cx="8798841" cy="4760467"/>
          </a:xfrm>
        </p:spPr>
      </p:pic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178BE58-DB38-DAC4-A14E-0DD5F11DA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0537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74E636-1ACB-3D2C-9DB2-85C3BB7ED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8FF775-BF28-250D-BC87-DD0F61156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5645" y="685799"/>
            <a:ext cx="8001000" cy="297180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 dirty="0"/>
              <a:t>PALESTRA EGRESSOS  CONTABILIDADE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FBAB28A-8D69-00EE-0445-0C572EEBB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spcAft>
                <a:spcPts val="600"/>
              </a:spcAft>
            </a:pPr>
            <a:fld id="{623252B5-F3E6-4058-A723-196087E9E541}" type="datetime1">
              <a:rPr lang="en-US" b="0" i="0" kern="1200" dirty="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7/6/2026</a:t>
            </a:fld>
            <a:endParaRPr lang="en-US" b="0" i="0" kern="1200" dirty="0">
              <a:solidFill>
                <a:schemeClr val="bg2">
                  <a:lumMod val="50000"/>
                </a:schemeClr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25733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35F3A7-1872-2496-D7AC-FC1BAC4D5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3A8B91-0406-4EC0-9B45-9D17C0868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318CDCE-0954-4845-B5F7-549B56D0A7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840" y="911432"/>
            <a:ext cx="4818289" cy="4672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219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AA7461-7B84-FCFD-1B63-9211877CE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DIA DO CONTADOR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B4581450-72E2-4050-93DE-E5CF8C3AD7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41D49F2-0241-6B65-D80D-14EF7DE72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6BA6665-D630-4C43-9989-3D086DA68E5F}" type="datetime1">
              <a:rPr lang="pt-BR" smtClean="0"/>
              <a:t>06/07/2026</a:t>
            </a:fld>
            <a:endParaRPr lang="en-US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AA06476-5A7A-4D18-B732-FBEA5A53A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2153412"/>
            <a:ext cx="4751738" cy="4874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8018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80468B-84A3-98EC-4B59-3843EF696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Palestra – OPORTUNIDADES AO NOVOS PROFISSIONAIS</a:t>
            </a:r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314F1F9F-1298-36A5-F7E2-75921824CC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41725" t="22887" r="40658" b="22003"/>
          <a:stretch/>
        </p:blipFill>
        <p:spPr>
          <a:xfrm>
            <a:off x="794657" y="1817877"/>
            <a:ext cx="2786743" cy="4903598"/>
          </a:xfrm>
        </p:spPr>
      </p:pic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52EC7AC-4012-C9A2-B92D-5E45E005C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6BA6665-D630-4C43-9989-3D086DA68E5F}" type="datetime1">
              <a:rPr lang="pt-BR" smtClean="0"/>
              <a:t>06/07/2026</a:t>
            </a:fld>
            <a:endParaRPr lang="en-US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644C9FA-77D5-CBF3-F940-FC90F74835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054" t="24920" r="21696" b="22381"/>
          <a:stretch/>
        </p:blipFill>
        <p:spPr>
          <a:xfrm>
            <a:off x="4118758" y="2024467"/>
            <a:ext cx="6858000" cy="361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8749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BB4A83-7428-8808-152D-B375D2F79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AC0917-ED3A-A862-D2A6-922A33A61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6BA6665-D630-4C43-9989-3D086DA68E5F}" type="datetime1">
              <a:rPr lang="pt-BR" smtClean="0"/>
              <a:t>06/07/2026</a:t>
            </a:fld>
            <a:endParaRPr lang="en-US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D34722E-FEAA-5931-8963-0692784873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911" t="23175" r="29642" b="22381"/>
          <a:stretch/>
        </p:blipFill>
        <p:spPr>
          <a:xfrm>
            <a:off x="-609600" y="1231900"/>
            <a:ext cx="4931229" cy="373380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3B66B1C5-7616-542E-3C16-7A64B03CCD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339" t="22531" r="41339" b="24753"/>
          <a:stretch/>
        </p:blipFill>
        <p:spPr>
          <a:xfrm>
            <a:off x="3694350" y="442627"/>
            <a:ext cx="3733800" cy="5796189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28D58E2C-5124-79AB-EF89-99C8F53D1B9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3214" t="22222" r="21696" b="21905"/>
          <a:stretch/>
        </p:blipFill>
        <p:spPr>
          <a:xfrm>
            <a:off x="6751495" y="696686"/>
            <a:ext cx="5760046" cy="3286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5068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8CDDD-C28D-D1AB-B17E-AC7CFA5FF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841F50-2919-BB3D-A84F-4A289FD55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383" y="2347997"/>
            <a:ext cx="11071657" cy="123325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4100" b="1" dirty="0" err="1"/>
              <a:t>Semana</a:t>
            </a:r>
            <a:r>
              <a:rPr lang="en-US" sz="4100" b="1" dirty="0"/>
              <a:t> TECNOLÓGICA, APRESENTAÇÃO DE PROJETOS e </a:t>
            </a:r>
            <a:r>
              <a:rPr lang="en-US" sz="4100" b="1" dirty="0" err="1"/>
              <a:t>apresentação</a:t>
            </a:r>
            <a:r>
              <a:rPr lang="en-US" sz="4100" b="1" dirty="0"/>
              <a:t> de </a:t>
            </a:r>
            <a:r>
              <a:rPr lang="en-US" sz="4100" b="1" dirty="0" err="1"/>
              <a:t>tcc</a:t>
            </a:r>
            <a:endParaRPr lang="en-US" sz="4100" b="1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4ACB64B-D77F-7AF8-D278-97B2051B4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spcAft>
                <a:spcPts val="600"/>
              </a:spcAft>
            </a:pPr>
            <a:fld id="{623252B5-F3E6-4058-A723-196087E9E541}" type="datetime1">
              <a:rPr lang="en-US" smtClean="0"/>
              <a:pPr>
                <a:spcAft>
                  <a:spcPts val="600"/>
                </a:spcAft>
              </a:pPr>
              <a:t>7/6/2026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52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3A4BBD-0D3A-D0C1-88D5-7C1C0FB72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projetos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C06A704-639B-0892-0053-E0BEAD88B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6BA6665-D630-4C43-9989-3D086DA68E5F}" type="datetime1">
              <a:rPr lang="pt-BR" smtClean="0"/>
              <a:t>06/07/2026</a:t>
            </a:fld>
            <a:endParaRPr lang="en-US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EE7ACB5-601B-718A-00C2-271EFBA231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875" t="22064" r="22054" b="23492"/>
          <a:stretch/>
        </p:blipFill>
        <p:spPr>
          <a:xfrm>
            <a:off x="0" y="2667000"/>
            <a:ext cx="6836229" cy="373380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16232ADE-629D-E69F-8412-6C0E315734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607" t="23968" r="41339" b="21746"/>
          <a:stretch/>
        </p:blipFill>
        <p:spPr>
          <a:xfrm>
            <a:off x="7380608" y="2334656"/>
            <a:ext cx="2079171" cy="3722915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33E4EFCC-10BA-0E05-9E7F-D27615645FB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1875" t="22064" r="41071" b="21746"/>
          <a:stretch/>
        </p:blipFill>
        <p:spPr>
          <a:xfrm>
            <a:off x="9723705" y="1857060"/>
            <a:ext cx="2079171" cy="3853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1008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3A37F-E9B3-6CD5-4F13-4CEC6EA6F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0C28DD-54F8-6668-083D-881705763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640" y="4473679"/>
            <a:ext cx="11071657" cy="1233251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 b="1" dirty="0"/>
              <a:t>APRESENTAÇÃO </a:t>
            </a:r>
            <a:r>
              <a:rPr lang="en-US" sz="4100" b="1" dirty="0" err="1"/>
              <a:t>tcc</a:t>
            </a:r>
            <a:r>
              <a:rPr lang="en-US" sz="4100" b="1" dirty="0"/>
              <a:t> 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C850CEB5-A475-F19E-3A16-F0DDD713F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3B0F69F-8148-3BF8-CB83-0DE78C370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spcAft>
                <a:spcPts val="600"/>
              </a:spcAft>
            </a:pPr>
            <a:fld id="{623252B5-F3E6-4058-A723-196087E9E541}" type="datetime1">
              <a:rPr lang="en-US" smtClean="0"/>
              <a:pPr>
                <a:spcAft>
                  <a:spcPts val="600"/>
                </a:spcAft>
              </a:pPr>
              <a:t>7/6/2026</a:t>
            </a:fld>
            <a:endParaRPr lang="en-US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05506CF-0E3B-1F88-0EF1-94695BFD57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303" t="22699" r="21875" b="23174"/>
          <a:stretch/>
        </p:blipFill>
        <p:spPr>
          <a:xfrm>
            <a:off x="217713" y="141514"/>
            <a:ext cx="6683829" cy="371203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76B459DF-6D4B-32DD-62E3-70A57AFECB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875" t="24127" r="21875" b="21905"/>
          <a:stretch/>
        </p:blipFill>
        <p:spPr>
          <a:xfrm>
            <a:off x="228598" y="3015343"/>
            <a:ext cx="6858000" cy="3701143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C4A32C41-5FCC-5D6C-F225-DFBC2D2AC31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13" t="24445" r="21237" b="20317"/>
          <a:stretch/>
        </p:blipFill>
        <p:spPr>
          <a:xfrm>
            <a:off x="6335486" y="22204"/>
            <a:ext cx="6858000" cy="3788228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5949F25B-537A-6E3F-8F0C-6E38920B221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963" t="25707" r="21429" b="21577"/>
          <a:stretch/>
        </p:blipFill>
        <p:spPr>
          <a:xfrm>
            <a:off x="6570776" y="3282670"/>
            <a:ext cx="5682343" cy="3615268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B7E49487-15DB-EB12-566A-A6FED2A00AE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8483" t="25273" r="26249" b="22011"/>
          <a:stretch/>
        </p:blipFill>
        <p:spPr>
          <a:xfrm>
            <a:off x="6375287" y="1380083"/>
            <a:ext cx="3032463" cy="2549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754729"/>
      </p:ext>
    </p:extLst>
  </p:cSld>
  <p:clrMapOvr>
    <a:masterClrMapping/>
  </p:clrMapOvr>
</p:sld>
</file>

<file path=ppt/theme/theme1.xml><?xml version="1.0" encoding="utf-8"?>
<a:theme xmlns:a="http://schemas.openxmlformats.org/drawingml/2006/main" name="Pacote">
  <a:themeElements>
    <a:clrScheme name="Pacote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cot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cot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TM10001115[[fn=Pacote]]</Template>
  <TotalTime>5450</TotalTime>
  <Words>225</Words>
  <Application>Microsoft Office PowerPoint</Application>
  <PresentationFormat>Widescreen</PresentationFormat>
  <Paragraphs>110</Paragraphs>
  <Slides>19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3" baseType="lpstr">
      <vt:lpstr>Arial</vt:lpstr>
      <vt:lpstr>Calibri</vt:lpstr>
      <vt:lpstr>Gill Sans MT</vt:lpstr>
      <vt:lpstr>Pacote</vt:lpstr>
      <vt:lpstr>Apresentação do PowerPoint</vt:lpstr>
      <vt:lpstr>Alunos matriculados – 2025 -02 CONTABILIDADE</vt:lpstr>
      <vt:lpstr>Gráfico de Matrículas</vt:lpstr>
      <vt:lpstr>EVASÃO</vt:lpstr>
      <vt:lpstr>NÚMERO DE MATRICULADOS POR SEMESTRE - PAINEL GERAL</vt:lpstr>
      <vt:lpstr>Número de Ocorrências</vt:lpstr>
      <vt:lpstr>Integração 18/09/2025</vt:lpstr>
      <vt:lpstr>Acolhimento e orientações iniciais</vt:lpstr>
      <vt:lpstr>Apresentação do PowerPoint</vt:lpstr>
      <vt:lpstr>PALESTRA – EMPREENDEDORISMO, COMO GANHAR DINHEIRO. 11/09/2025</vt:lpstr>
      <vt:lpstr>PALESTRA – EMPREENDEDORISMO, COMO GANHAR DINHEIRO. Profª IEDA</vt:lpstr>
      <vt:lpstr>PALESTRA EGRESSOS  CONTABILIDADE</vt:lpstr>
      <vt:lpstr>Apresentação do PowerPoint</vt:lpstr>
      <vt:lpstr>DIA DO CONTADOR</vt:lpstr>
      <vt:lpstr>Palestra – OPORTUNIDADES AO NOVOS PROFISSIONAIS</vt:lpstr>
      <vt:lpstr>Apresentação do PowerPoint</vt:lpstr>
      <vt:lpstr>Semana TECNOLÓGICA, APRESENTAÇÃO DE PROJETOS e apresentação de tcc</vt:lpstr>
      <vt:lpstr>projetos</vt:lpstr>
      <vt:lpstr>APRESENTAÇÃO tcc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Giovanna Lettieri</dc:creator>
  <cp:lastModifiedBy>Madalena Oliveira Lima</cp:lastModifiedBy>
  <cp:revision>10</cp:revision>
  <dcterms:created xsi:type="dcterms:W3CDTF">2025-07-04T01:16:22Z</dcterms:created>
  <dcterms:modified xsi:type="dcterms:W3CDTF">2026-07-06T16:33:41Z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f380b4d-8a71-4241-982c-3816ad3ce8fc_Enabled">
    <vt:lpwstr>true</vt:lpwstr>
  </property>
  <property fmtid="{D5CDD505-2E9C-101B-9397-08002B2CF9AE}" pid="3" name="MSIP_Label_ff380b4d-8a71-4241-982c-3816ad3ce8fc_SetDate">
    <vt:lpwstr>2025-12-17T17:41:24Z</vt:lpwstr>
  </property>
  <property fmtid="{D5CDD505-2E9C-101B-9397-08002B2CF9AE}" pid="4" name="MSIP_Label_ff380b4d-8a71-4241-982c-3816ad3ce8fc_Method">
    <vt:lpwstr>Standard</vt:lpwstr>
  </property>
  <property fmtid="{D5CDD505-2E9C-101B-9397-08002B2CF9AE}" pid="5" name="MSIP_Label_ff380b4d-8a71-4241-982c-3816ad3ce8fc_Name">
    <vt:lpwstr>defa4170-0d19-0005-0004-bc88714345d2</vt:lpwstr>
  </property>
  <property fmtid="{D5CDD505-2E9C-101B-9397-08002B2CF9AE}" pid="6" name="MSIP_Label_ff380b4d-8a71-4241-982c-3816ad3ce8fc_SiteId">
    <vt:lpwstr>eabe64c5-68f5-4a76-8301-9577a679e449</vt:lpwstr>
  </property>
  <property fmtid="{D5CDD505-2E9C-101B-9397-08002B2CF9AE}" pid="7" name="MSIP_Label_ff380b4d-8a71-4241-982c-3816ad3ce8fc_ActionId">
    <vt:lpwstr>267d015c-cedf-49cc-b38d-57335558e980</vt:lpwstr>
  </property>
  <property fmtid="{D5CDD505-2E9C-101B-9397-08002B2CF9AE}" pid="8" name="MSIP_Label_ff380b4d-8a71-4241-982c-3816ad3ce8fc_ContentBits">
    <vt:lpwstr>0</vt:lpwstr>
  </property>
  <property fmtid="{D5CDD505-2E9C-101B-9397-08002B2CF9AE}" pid="9" name="MSIP_Label_ff380b4d-8a71-4241-982c-3816ad3ce8fc_Tag">
    <vt:lpwstr>10, 3, 0, 1</vt:lpwstr>
  </property>
</Properties>
</file>