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1"/>
  </p:sldMasterIdLst>
  <p:notesMasterIdLst>
    <p:notesMasterId r:id="rId26"/>
  </p:notesMasterIdLst>
  <p:handoutMasterIdLst>
    <p:handoutMasterId r:id="rId27"/>
  </p:handoutMasterIdLst>
  <p:sldIdLst>
    <p:sldId id="257" r:id="rId2"/>
    <p:sldId id="290" r:id="rId3"/>
    <p:sldId id="304" r:id="rId4"/>
    <p:sldId id="305" r:id="rId5"/>
    <p:sldId id="306" r:id="rId6"/>
    <p:sldId id="307" r:id="rId7"/>
    <p:sldId id="259" r:id="rId8"/>
    <p:sldId id="313" r:id="rId9"/>
    <p:sldId id="298" r:id="rId10"/>
    <p:sldId id="315" r:id="rId11"/>
    <p:sldId id="314" r:id="rId12"/>
    <p:sldId id="301" r:id="rId13"/>
    <p:sldId id="293" r:id="rId14"/>
    <p:sldId id="312" r:id="rId15"/>
    <p:sldId id="296" r:id="rId16"/>
    <p:sldId id="297" r:id="rId17"/>
    <p:sldId id="299" r:id="rId18"/>
    <p:sldId id="291" r:id="rId19"/>
    <p:sldId id="308" r:id="rId20"/>
    <p:sldId id="309" r:id="rId21"/>
    <p:sldId id="310" r:id="rId22"/>
    <p:sldId id="311" r:id="rId23"/>
    <p:sldId id="300" r:id="rId24"/>
    <p:sldId id="29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8943B-E201-A87D-4BE7-6A70D3A87400}" v="95" dt="2026-08-14T12:43:25.491"/>
    <p1510:client id="{A274D84B-F534-9B6E-2FD3-F2969B89EEA9}" v="273" dt="2026-08-14T13:12:08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14/08/2026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92B5B4-4D0A-4964-A1A3-B85B0EE00890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41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89340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A251DFA-97D2-4C90-9100-D1173CC96C37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58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5116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638535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685678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4773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17033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3D5E4E1C-696A-4E82-B6DD-87ECA4CC925A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9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07592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2806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7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zL7h5AAA%3d&amp;exvsurl=1&amp;viewmodel=ReadMessageItem" TargetMode="External"/><Relationship Id="rId7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ymHXaAAA%3d&amp;exvsurl=1&amp;viewmodel=ReadMessageItem" TargetMode="External"/><Relationship Id="rId2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zNww1AAA%3d&amp;exvsurl=1&amp;viewmodel=ReadMessageIte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ymHXbAAA%3d&amp;exvsurl=1&amp;viewmodel=ReadMessageItem" TargetMode="External"/><Relationship Id="rId5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zNwwxAAA%3d&amp;exvsurl=1&amp;viewmodel=ReadMessageItem" TargetMode="External"/><Relationship Id="rId4" Type="http://schemas.openxmlformats.org/officeDocument/2006/relationships/hyperlink" Target="https://outlook.office365.com/owa/?ItemID=AAMkADBiNGY5MmY1LTFhYTctNDM3ZC1iODEwLTIzYjVkYjBmOGE5MwBGAAAAAABphoytuMAhTKW15AU9MBLrBwCtWVebTOGgTpJAsRIdhjQUAAAAAAEMAACtWVebTOGgTpJAsRIdhjQUAABzNww4AAA%3d&amp;exvsurl=1&amp;viewmodel=ReadMessageIte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F62E2CA-0AAE-438B-AB5B-E827B8579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ítulo 8">
            <a:extLst>
              <a:ext uri="{FF2B5EF4-FFF2-40B4-BE49-F238E27FC236}">
                <a16:creationId xmlns:a16="http://schemas.microsoft.com/office/drawing/2014/main" id="{2E3624E5-1A5D-4CA9-80A0-95FCEFEE9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0419217" cy="194733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r>
              <a:rPr lang="pt-BR" b="1" dirty="0">
                <a:solidFill>
                  <a:schemeClr val="bg1"/>
                </a:solidFill>
              </a:rPr>
              <a:t>RELATÓRIO DE ENCERRAMENTO</a:t>
            </a:r>
          </a:p>
          <a:p>
            <a:pPr algn="r"/>
            <a:r>
              <a:rPr lang="pt-BR" b="1" dirty="0">
                <a:solidFill>
                  <a:schemeClr val="bg1"/>
                </a:solidFill>
              </a:rPr>
              <a:t>DO CURSO DE </a:t>
            </a:r>
          </a:p>
          <a:p>
            <a:pPr algn="r"/>
            <a:r>
              <a:rPr lang="pt-BR" b="1">
                <a:solidFill>
                  <a:schemeClr val="bg1"/>
                </a:solidFill>
              </a:rPr>
              <a:t>Téc Desenvolvimento de Sistemas – 2026-02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54AA-0A79-5D8D-C29A-D50582E0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04112-66A6-9560-F96C-00936E01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49168"/>
            <a:ext cx="8534400" cy="1507067"/>
          </a:xfrm>
        </p:spPr>
        <p:txBody>
          <a:bodyPr/>
          <a:lstStyle/>
          <a:p>
            <a:pPr algn="ctr"/>
            <a:r>
              <a:rPr lang="pt-BR" dirty="0"/>
              <a:t>Alunos matriculados – 2025 -02</a:t>
            </a:r>
            <a:br>
              <a:rPr lang="pt-BR" dirty="0"/>
            </a:br>
            <a:r>
              <a:rPr lang="pt-BR" dirty="0"/>
              <a:t>CONTABILIDADE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12882C7-D5A3-4083-8538-8AFF22D04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332144"/>
              </p:ext>
            </p:extLst>
          </p:nvPr>
        </p:nvGraphicFramePr>
        <p:xfrm>
          <a:off x="1705491" y="2370010"/>
          <a:ext cx="8534400" cy="2629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5530">
                  <a:extLst>
                    <a:ext uri="{9D8B030D-6E8A-4147-A177-3AD203B41FA5}">
                      <a16:colId xmlns:a16="http://schemas.microsoft.com/office/drawing/2014/main" val="3422092410"/>
                    </a:ext>
                  </a:extLst>
                </a:gridCol>
                <a:gridCol w="1031230">
                  <a:extLst>
                    <a:ext uri="{9D8B030D-6E8A-4147-A177-3AD203B41FA5}">
                      <a16:colId xmlns:a16="http://schemas.microsoft.com/office/drawing/2014/main" val="1430064151"/>
                    </a:ext>
                  </a:extLst>
                </a:gridCol>
                <a:gridCol w="1229141">
                  <a:extLst>
                    <a:ext uri="{9D8B030D-6E8A-4147-A177-3AD203B41FA5}">
                      <a16:colId xmlns:a16="http://schemas.microsoft.com/office/drawing/2014/main" val="2611714374"/>
                    </a:ext>
                  </a:extLst>
                </a:gridCol>
                <a:gridCol w="878774">
                  <a:extLst>
                    <a:ext uri="{9D8B030D-6E8A-4147-A177-3AD203B41FA5}">
                      <a16:colId xmlns:a16="http://schemas.microsoft.com/office/drawing/2014/main" val="41331396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48267121"/>
                    </a:ext>
                  </a:extLst>
                </a:gridCol>
                <a:gridCol w="2984068">
                  <a:extLst>
                    <a:ext uri="{9D8B030D-6E8A-4147-A177-3AD203B41FA5}">
                      <a16:colId xmlns:a16="http://schemas.microsoft.com/office/drawing/2014/main" val="800043372"/>
                    </a:ext>
                  </a:extLst>
                </a:gridCol>
              </a:tblGrid>
              <a:tr h="34598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TURMAS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MATRICULADOS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CURSANDO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OCORRÊNCIAS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OBSERVAÇÕES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1623404374"/>
                  </a:ext>
                </a:extLst>
              </a:tr>
              <a:tr h="678134"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TÉCNICO EM CONTABILIDADE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1º MÓDULO - 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25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21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13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OCORRÊNCIAS APENAS DE CIÊNCIA DA FREQUÊNCIA PELA ORIENTADORA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2576659878"/>
                  </a:ext>
                </a:extLst>
              </a:tr>
              <a:tr h="71965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2º MÓDULO - 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34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33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00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1213442563"/>
                  </a:ext>
                </a:extLst>
              </a:tr>
              <a:tr h="88572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100" u="none" strike="noStrike">
                          <a:effectLst/>
                        </a:rPr>
                        <a:t>Total do Curso: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59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54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13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 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3372396087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B87D5-CB0E-DA37-7711-B1C3E4200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2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12F06-6ADD-4AC8-A145-A548C158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Matrículas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7B022-AFED-49A4-9754-03DADA75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27B0CBD-BBAC-438D-8603-2DDE0800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3ABDDE1-E762-41A5-BBA6-114A0A38D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390834"/>
            <a:ext cx="71247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2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610A2-B1F9-472A-87EF-FE92F5B4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EVASÃO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63C2AA0A-3F85-4F3D-A454-2882B59DE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906335"/>
              </p:ext>
            </p:extLst>
          </p:nvPr>
        </p:nvGraphicFramePr>
        <p:xfrm>
          <a:off x="1386671" y="2521840"/>
          <a:ext cx="8932985" cy="371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488">
                  <a:extLst>
                    <a:ext uri="{9D8B030D-6E8A-4147-A177-3AD203B41FA5}">
                      <a16:colId xmlns:a16="http://schemas.microsoft.com/office/drawing/2014/main" val="3486540701"/>
                    </a:ext>
                  </a:extLst>
                </a:gridCol>
                <a:gridCol w="2914381">
                  <a:extLst>
                    <a:ext uri="{9D8B030D-6E8A-4147-A177-3AD203B41FA5}">
                      <a16:colId xmlns:a16="http://schemas.microsoft.com/office/drawing/2014/main" val="2794981789"/>
                    </a:ext>
                  </a:extLst>
                </a:gridCol>
                <a:gridCol w="2450201">
                  <a:extLst>
                    <a:ext uri="{9D8B030D-6E8A-4147-A177-3AD203B41FA5}">
                      <a16:colId xmlns:a16="http://schemas.microsoft.com/office/drawing/2014/main" val="769842316"/>
                    </a:ext>
                  </a:extLst>
                </a:gridCol>
                <a:gridCol w="1824915">
                  <a:extLst>
                    <a:ext uri="{9D8B030D-6E8A-4147-A177-3AD203B41FA5}">
                      <a16:colId xmlns:a16="http://schemas.microsoft.com/office/drawing/2014/main" val="3322410188"/>
                    </a:ext>
                  </a:extLst>
                </a:gridCol>
              </a:tblGrid>
              <a:tr h="413213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TURMAS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DESISTENTE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EVADIDO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TRANCADO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0780163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1º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80351619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2º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7161095"/>
                  </a:ext>
                </a:extLst>
              </a:tr>
              <a:tr h="631057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00303892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400" u="none" strike="noStrike">
                          <a:effectLst/>
                        </a:rPr>
                        <a:t>Total do Curso: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3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9728051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47E20-D698-485B-9311-76D56DBD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0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0D084-74D1-4DDF-8B0E-E1AD87303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MATRICULADOS POR SEMESTRE - PAINEL GERAL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022EA086-2EA2-4B2C-8FC4-5F2C9C2EA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211736"/>
              </p:ext>
            </p:extLst>
          </p:nvPr>
        </p:nvGraphicFramePr>
        <p:xfrm>
          <a:off x="2021393" y="2264891"/>
          <a:ext cx="8149214" cy="3518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0516">
                  <a:extLst>
                    <a:ext uri="{9D8B030D-6E8A-4147-A177-3AD203B41FA5}">
                      <a16:colId xmlns:a16="http://schemas.microsoft.com/office/drawing/2014/main" val="3917069170"/>
                    </a:ext>
                  </a:extLst>
                </a:gridCol>
                <a:gridCol w="3548077">
                  <a:extLst>
                    <a:ext uri="{9D8B030D-6E8A-4147-A177-3AD203B41FA5}">
                      <a16:colId xmlns:a16="http://schemas.microsoft.com/office/drawing/2014/main" val="2440184918"/>
                    </a:ext>
                  </a:extLst>
                </a:gridCol>
                <a:gridCol w="1345822">
                  <a:extLst>
                    <a:ext uri="{9D8B030D-6E8A-4147-A177-3AD203B41FA5}">
                      <a16:colId xmlns:a16="http://schemas.microsoft.com/office/drawing/2014/main" val="1687135306"/>
                    </a:ext>
                  </a:extLst>
                </a:gridCol>
                <a:gridCol w="1664799">
                  <a:extLst>
                    <a:ext uri="{9D8B030D-6E8A-4147-A177-3AD203B41FA5}">
                      <a16:colId xmlns:a16="http://schemas.microsoft.com/office/drawing/2014/main" val="4098746955"/>
                    </a:ext>
                  </a:extLst>
                </a:gridCol>
              </a:tblGrid>
              <a:tr h="849012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TURMAS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MATRICULADOS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CURSANDO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DESISTENTE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1735812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1º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25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21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866100512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2º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34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33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89864391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400" u="none" strike="noStrike">
                          <a:effectLst/>
                        </a:rPr>
                        <a:t>Total do Curso: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59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54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932087341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32AF04-C210-4F70-BE6B-DC719575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1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09F57-D118-45BD-8C8E-31B15CD9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Ocorrências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BD6B1C02-A660-425B-90A8-126C85667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808529"/>
              </p:ext>
            </p:extLst>
          </p:nvPr>
        </p:nvGraphicFramePr>
        <p:xfrm>
          <a:off x="838200" y="2708539"/>
          <a:ext cx="10515600" cy="16325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508">
                  <a:extLst>
                    <a:ext uri="{9D8B030D-6E8A-4147-A177-3AD203B41FA5}">
                      <a16:colId xmlns:a16="http://schemas.microsoft.com/office/drawing/2014/main" val="3120734232"/>
                    </a:ext>
                  </a:extLst>
                </a:gridCol>
                <a:gridCol w="2307748">
                  <a:extLst>
                    <a:ext uri="{9D8B030D-6E8A-4147-A177-3AD203B41FA5}">
                      <a16:colId xmlns:a16="http://schemas.microsoft.com/office/drawing/2014/main" val="2355250045"/>
                    </a:ext>
                  </a:extLst>
                </a:gridCol>
                <a:gridCol w="2000806">
                  <a:extLst>
                    <a:ext uri="{9D8B030D-6E8A-4147-A177-3AD203B41FA5}">
                      <a16:colId xmlns:a16="http://schemas.microsoft.com/office/drawing/2014/main" val="401073919"/>
                    </a:ext>
                  </a:extLst>
                </a:gridCol>
                <a:gridCol w="5172538">
                  <a:extLst>
                    <a:ext uri="{9D8B030D-6E8A-4147-A177-3AD203B41FA5}">
                      <a16:colId xmlns:a16="http://schemas.microsoft.com/office/drawing/2014/main" val="3284908443"/>
                    </a:ext>
                  </a:extLst>
                </a:gridCol>
              </a:tblGrid>
              <a:tr h="213154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TURMAS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MATRICULADOS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NÚMERO DE OCORRÊNCIAS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OBSERVAÇÃO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extLst>
                  <a:ext uri="{0D108BD9-81ED-4DB2-BD59-A6C34878D82A}">
                    <a16:rowId xmlns:a16="http://schemas.microsoft.com/office/drawing/2014/main" val="1189408828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300" u="none" strike="noStrike">
                          <a:effectLst/>
                        </a:rPr>
                        <a:t>1º MÓDULO - B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25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 dirty="0">
                          <a:effectLst/>
                        </a:rPr>
                        <a:t>13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OCORRENCIAS GERADAS PELA OE PARA ACOMPANHAMENTO DE FALTAS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extLst>
                  <a:ext uri="{0D108BD9-81ED-4DB2-BD59-A6C34878D82A}">
                    <a16:rowId xmlns:a16="http://schemas.microsoft.com/office/drawing/2014/main" val="531789008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300" u="none" strike="noStrike">
                          <a:effectLst/>
                        </a:rPr>
                        <a:t>2º MÓDULO - B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34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extLst>
                  <a:ext uri="{0D108BD9-81ED-4DB2-BD59-A6C34878D82A}">
                    <a16:rowId xmlns:a16="http://schemas.microsoft.com/office/drawing/2014/main" val="2387248269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300" u="none" strike="noStrike">
                          <a:effectLst/>
                        </a:rPr>
                        <a:t>Total do Curso: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59</a:t>
                      </a:r>
                      <a:endParaRPr lang="pt-BR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13</a:t>
                      </a:r>
                      <a:endParaRPr lang="pt-BR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 dirty="0">
                          <a:effectLst/>
                        </a:rPr>
                        <a:t> 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extLst>
                  <a:ext uri="{0D108BD9-81ED-4DB2-BD59-A6C34878D82A}">
                    <a16:rowId xmlns:a16="http://schemas.microsoft.com/office/drawing/2014/main" val="3032895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4C9E4D-5F33-4A3B-9FE2-AD9AB5E8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7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01DDB-FDD1-490A-E98B-4E18BAEDC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Integração 18/09/2025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E20DE7-7753-54D8-8593-A33022E8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 sz="1000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916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4D7C5-E008-A8F7-968A-032B4682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F7617-2A31-E894-69E0-7E5AA8AB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7887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 err="1"/>
              <a:t>reuniões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8F15FE-43FE-3873-7070-AAA18A7B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 sz="1000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513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6334-7495-D701-AA52-F8E681C5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42" y="442422"/>
            <a:ext cx="7755413" cy="563709"/>
          </a:xfrm>
        </p:spPr>
        <p:txBody>
          <a:bodyPr>
            <a:normAutofit fontScale="90000"/>
          </a:bodyPr>
          <a:lstStyle/>
          <a:p>
            <a:r>
              <a:rPr lang="pt-BR"/>
              <a:t>Reunião com representantes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E6331-292F-AE8A-0A97-013116BE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B801C1-AA5D-5B65-6B8C-2A74A94F2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51" y="1826056"/>
            <a:ext cx="4211484" cy="23679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DE7E8D5-CB44-5A29-B50C-B9427F370AC3}"/>
              </a:ext>
            </a:extLst>
          </p:cNvPr>
          <p:cNvSpPr txBox="1"/>
          <p:nvPr/>
        </p:nvSpPr>
        <p:spPr>
          <a:xfrm>
            <a:off x="637082" y="1343183"/>
            <a:ext cx="42366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/>
              <a:t>13/08/2026</a:t>
            </a:r>
          </a:p>
        </p:txBody>
      </p:sp>
    </p:spTree>
    <p:extLst>
      <p:ext uri="{BB962C8B-B14F-4D97-AF65-F5344CB8AC3E}">
        <p14:creationId xmlns:p14="http://schemas.microsoft.com/office/powerpoint/2010/main" val="302847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1057-8D34-7CC1-B49E-45C696FF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8A63E-B533-FC37-7801-2A5C57E1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42" y="442422"/>
            <a:ext cx="7755413" cy="563709"/>
          </a:xfrm>
        </p:spPr>
        <p:txBody>
          <a:bodyPr>
            <a:normAutofit fontScale="90000"/>
          </a:bodyPr>
          <a:lstStyle/>
          <a:p>
            <a:r>
              <a:rPr lang="pt-BR"/>
              <a:t>Reunião professores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BD4C7-4AB1-9D61-128B-7B8CF2D1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B787DE-0237-767B-10C6-C7055C00A711}"/>
              </a:ext>
            </a:extLst>
          </p:cNvPr>
          <p:cNvSpPr txBox="1"/>
          <p:nvPr/>
        </p:nvSpPr>
        <p:spPr>
          <a:xfrm>
            <a:off x="637082" y="1343183"/>
            <a:ext cx="423660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/>
              <a:t>?Pauta</a:t>
            </a:r>
          </a:p>
          <a:p>
            <a:r>
              <a:rPr lang="pt-BR"/>
              <a:t>=&gt; Alunos fora da sala:</a:t>
            </a:r>
            <a:endParaRPr lang="pt-BR" dirty="0"/>
          </a:p>
          <a:p>
            <a:r>
              <a:rPr lang="pt-BR"/>
              <a:t>    Volta do Intervalo</a:t>
            </a:r>
          </a:p>
          <a:p>
            <a:r>
              <a:rPr lang="pt-BR"/>
              <a:t>    Saídas durante a aula</a:t>
            </a:r>
          </a:p>
          <a:p>
            <a:endParaRPr lang="pt-BR" dirty="0"/>
          </a:p>
          <a:p>
            <a:r>
              <a:rPr lang="pt-BR"/>
              <a:t>=&gt; Programas Educacionais</a:t>
            </a:r>
            <a:endParaRPr lang="pt-BR" dirty="0"/>
          </a:p>
          <a:p>
            <a:r>
              <a:rPr lang="pt-BR" dirty="0"/>
              <a:t>     * Github </a:t>
            </a:r>
            <a:r>
              <a:rPr lang="pt-BR" dirty="0" err="1"/>
              <a:t>Educations</a:t>
            </a:r>
            <a:r>
              <a:rPr lang="pt-BR" dirty="0"/>
              <a:t> / </a:t>
            </a:r>
            <a:r>
              <a:rPr lang="pt-BR" dirty="0" err="1"/>
              <a:t>Copilot</a:t>
            </a:r>
            <a:endParaRPr lang="pt-BR" dirty="0"/>
          </a:p>
          <a:p>
            <a:r>
              <a:rPr lang="pt-BR" dirty="0"/>
              <a:t>     * </a:t>
            </a:r>
            <a:r>
              <a:rPr lang="pt-BR" dirty="0" err="1"/>
              <a:t>Aws</a:t>
            </a:r>
            <a:r>
              <a:rPr lang="pt-BR" dirty="0"/>
              <a:t> </a:t>
            </a:r>
            <a:r>
              <a:rPr lang="pt-BR" dirty="0" err="1"/>
              <a:t>Academy</a:t>
            </a:r>
            <a:endParaRPr lang="pt-BR" dirty="0"/>
          </a:p>
          <a:p>
            <a:r>
              <a:rPr lang="pt-BR" dirty="0"/>
              <a:t>     * </a:t>
            </a:r>
            <a:r>
              <a:rPr lang="pt-BR" dirty="0" err="1"/>
              <a:t>Red</a:t>
            </a:r>
            <a:r>
              <a:rPr lang="pt-BR" dirty="0"/>
              <a:t> </a:t>
            </a:r>
            <a:r>
              <a:rPr lang="pt-BR" dirty="0" err="1"/>
              <a:t>Had</a:t>
            </a:r>
            <a:r>
              <a:rPr lang="pt-BR" dirty="0"/>
              <a:t> </a:t>
            </a:r>
            <a:r>
              <a:rPr lang="pt-BR" dirty="0" err="1"/>
              <a:t>Academy</a:t>
            </a:r>
            <a:endParaRPr lang="pt-BR" dirty="0"/>
          </a:p>
          <a:p>
            <a:r>
              <a:rPr lang="pt-BR"/>
              <a:t>     * Azure</a:t>
            </a:r>
          </a:p>
          <a:p>
            <a:endParaRPr lang="pt-BR" dirty="0"/>
          </a:p>
          <a:p>
            <a:r>
              <a:rPr lang="pt-BR" dirty="0"/>
              <a:t>=&gt; </a:t>
            </a:r>
            <a:r>
              <a:rPr lang="pt-BR" dirty="0" err="1"/>
              <a:t>Feteps</a:t>
            </a:r>
          </a:p>
          <a:p>
            <a:endParaRPr lang="pt-BR" dirty="0"/>
          </a:p>
          <a:p>
            <a:r>
              <a:rPr lang="pt-BR"/>
              <a:t>=&gt; Workshops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6997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9603-8E49-0AD5-1F03-DB018F33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F8FB-C52F-01CC-4870-DA682F73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Acolhimento e orientações iniciais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6AC9B68-4814-208A-AA7A-00619309B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2358DF-1AD8-FAA6-25F0-8AAE1C21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183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354B3-0AAF-C3D6-D6C4-2E98C485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PALESTRA – EMPREENDEDORISMO, COMO GANHAR DINHEIRO. 11/09/2025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412CA-0418-AD40-5F01-5B3623036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E4D2C7-BC86-723D-645F-D058ECBE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1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4E636-1ACB-3D2C-9DB2-85C3BB7E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FF775-BF28-250D-BC87-DD0F6115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8642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PALESTRAs EGRESSOS 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BAB28A-8D69-00EE-0445-0C572EEB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8/14/2026</a:t>
            </a:fld>
            <a:endParaRPr lang="en-US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57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BC230-9485-55F8-0D1B-742B0EEC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DE8B3-3449-7C76-5E7C-8F220F98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86428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/>
              <a:t>Workshops EGRESSOS 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DF07CA-DCD7-673E-5FD5-C0467DD2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8/14/2026</a:t>
            </a:fld>
            <a:endParaRPr lang="en-US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1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A7461-7B84-FCFD-1B63-9211877C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 DO CONTADOR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4581450-72E2-4050-93DE-E5CF8C3A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1D49F2-0241-6B65-D80D-14EF7DE7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0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0468B-84A3-98EC-4B59-3843EF69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Palestra – OPORTUNIDADES AO NOVOS PROFISSIONAIS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EC7AC-4012-C9A2-B92D-5E45E005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D2F23DA-3252-5724-193A-477624CE4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87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B4A83-7428-8808-152D-B375D2F7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AC0917-ED3A-A862-D2A6-922A33A6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06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CDDD-C28D-D1AB-B17E-AC7CFA5F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41F50-2919-BB3D-A84F-4A289FD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83" y="2347997"/>
            <a:ext cx="11071657" cy="12332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b="1" dirty="0" err="1"/>
              <a:t>Semana</a:t>
            </a:r>
            <a:r>
              <a:rPr lang="en-US" sz="4100" b="1" dirty="0"/>
              <a:t> TECNOLÓGICA, APRESENTAÇÃO DE PROJETOS e </a:t>
            </a:r>
            <a:r>
              <a:rPr lang="en-US" sz="4100" b="1" dirty="0" err="1"/>
              <a:t>apresentação</a:t>
            </a:r>
            <a:r>
              <a:rPr lang="en-US" sz="4100" b="1" dirty="0"/>
              <a:t> de </a:t>
            </a:r>
            <a:r>
              <a:rPr lang="en-US" sz="4100" b="1" dirty="0" err="1"/>
              <a:t>tcc</a:t>
            </a:r>
            <a:endParaRPr lang="en-US" sz="4100" b="1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ACB64B-D77F-7AF8-D278-97B2051B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smtClean="0"/>
              <a:pPr>
                <a:spcAft>
                  <a:spcPts val="600"/>
                </a:spcAft>
              </a:pPr>
              <a:t>8/14/2026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F2724-54FA-E537-60CB-72FF5A2C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90947-3E11-D669-7DB7-3D5C70CD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773" y="433704"/>
            <a:ext cx="11071657" cy="787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/>
              <a:t>Combate a evasão: busca ativa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04C050-D960-E68E-2FC3-E30BCEAE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smtClean="0"/>
              <a:pPr>
                <a:spcAft>
                  <a:spcPts val="600"/>
                </a:spcAft>
              </a:pPr>
              <a:t>8/14/2026</a:t>
            </a:fld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2554230-342D-EBBB-EFC8-7A2C0995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72" y="1351935"/>
            <a:ext cx="6879987" cy="5334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A175822-C121-8892-AC2E-5CCF5F3685B0}"/>
              </a:ext>
            </a:extLst>
          </p:cNvPr>
          <p:cNvSpPr txBox="1"/>
          <p:nvPr/>
        </p:nvSpPr>
        <p:spPr>
          <a:xfrm>
            <a:off x="7359804" y="1796586"/>
            <a:ext cx="41259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Ação realizada por email</a:t>
            </a:r>
          </a:p>
          <a:p>
            <a:r>
              <a:rPr lang="pt-BR"/>
              <a:t>Até 14/ago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46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03799-E009-25DC-9B19-B3D0868F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0" y="165521"/>
            <a:ext cx="8305874" cy="401940"/>
          </a:xfrm>
        </p:spPr>
        <p:txBody>
          <a:bodyPr>
            <a:normAutofit fontScale="90000"/>
          </a:bodyPr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8A9A06-0D18-E196-977E-5B744A965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60" y="773312"/>
            <a:ext cx="7729728" cy="3101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Alunos que responderam ao e-mail</a:t>
            </a:r>
          </a:p>
          <a:p>
            <a:r>
              <a:rPr lang="pt-BR" sz="1100">
                <a:latin typeface="Segoe UI"/>
                <a:cs typeface="Segoe UI"/>
              </a:rPr>
              <a:t>Caio dos Santos Carvalho (RM 27665) respondeu informando problemas pessoais e interesse em continuar o curso. </a:t>
            </a:r>
            <a:r>
              <a:rPr lang="pt-BR" sz="1100" dirty="0">
                <a:latin typeface="Segoe UI"/>
                <a:cs typeface="Segoe UI"/>
                <a:hlinkClick r:id="rId2"/>
              </a:rPr>
              <a:t>[Re: Baixa...Zona Leste | Outlook]</a:t>
            </a:r>
            <a:r>
              <a:rPr lang="pt-BR" sz="1100">
                <a:latin typeface="Segoe UI"/>
                <a:cs typeface="Segoe UI"/>
              </a:rPr>
              <a:t>, </a:t>
            </a:r>
            <a:r>
              <a:rPr lang="pt-BR" sz="1100" dirty="0">
                <a:latin typeface="Segoe UI"/>
                <a:cs typeface="Segoe UI"/>
                <a:hlinkClick r:id="rId3"/>
              </a:rPr>
              <a:t>[Re: Baixa...Zona Leste | Outlook]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Raul Gomes Garcia (RM 27666) respondeu informando que não faltou às aulas. </a:t>
            </a:r>
            <a:r>
              <a:rPr lang="pt-BR" sz="1100" dirty="0">
                <a:latin typeface="Segoe UI"/>
                <a:cs typeface="Segoe UI"/>
                <a:hlinkClick r:id="rId4"/>
              </a:rPr>
              <a:t>[Re: Baixa...Zona Leste | Outlook]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Suellen de Freitas Viana dos Santos (RM 27758) respondeu informando problemas de saúde e interesse em continuar. </a:t>
            </a:r>
            <a:r>
              <a:rPr lang="pt-BR" sz="1100" dirty="0">
                <a:latin typeface="Segoe UI"/>
                <a:cs typeface="Segoe UI"/>
                <a:hlinkClick r:id="rId5"/>
              </a:rPr>
              <a:t>[Re: Baixa...Zona Leste | Outlook]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Fábio Assato Rossi (RM 26375) respondeu confirmando interesse e frequência às aulas. </a:t>
            </a:r>
            <a:r>
              <a:rPr lang="pt-BR" sz="1100" dirty="0">
                <a:latin typeface="Segoe UI"/>
                <a:cs typeface="Segoe UI"/>
                <a:hlinkClick r:id="rId6"/>
              </a:rPr>
              <a:t>[Re: Baixa...Zona Leste | Outlook]</a:t>
            </a:r>
            <a:r>
              <a:rPr lang="pt-BR" sz="1100">
                <a:latin typeface="Segoe UI"/>
                <a:cs typeface="Segoe UI"/>
              </a:rPr>
              <a:t>, </a:t>
            </a:r>
            <a:r>
              <a:rPr lang="pt-BR" sz="1100" dirty="0">
                <a:latin typeface="Segoe UI"/>
                <a:cs typeface="Segoe UI"/>
                <a:hlinkClick r:id="rId7"/>
              </a:rPr>
              <a:t>[Re: Baixa...Zona Leste | Outlook]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Houve também manifestação do responsável de Bryan Bennington Ribeiro de Oliveira informando que o leva à escola todos os dias.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0342D0-40F4-09CB-E87C-95956574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994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138E5-8B7A-E363-D6DE-3B45C54A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48" y="537229"/>
            <a:ext cx="6441143" cy="259452"/>
          </a:xfrm>
        </p:spPr>
        <p:txBody>
          <a:bodyPr>
            <a:normAutofit fontScale="90000"/>
          </a:bodyPr>
          <a:lstStyle/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pt-BR" sz="600"/>
              <a:t>Alunos que NÃO retornaram o e-mail (até o momento)</a:t>
            </a:r>
            <a:endParaRPr lang="en-US" sz="60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9456D-465B-176A-2E9E-0E6DA452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648" y="959166"/>
            <a:ext cx="7729728" cy="3101983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pt-BR"/>
              <a:t>Alunos que NÃO retornaram o e-mail (até o momento)</a:t>
            </a:r>
          </a:p>
          <a:p>
            <a:r>
              <a:rPr lang="pt-BR"/>
              <a:t>Crítico</a:t>
            </a:r>
          </a:p>
          <a:p>
            <a:r>
              <a:rPr lang="pt-BR" sz="1100">
                <a:latin typeface="Segoe UI"/>
                <a:cs typeface="Segoe UI"/>
              </a:rPr>
              <a:t>Arthur Henrique de Oliveira Santos (RM 27279)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96065-1415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Responsável: Mônica ... Santos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 responsável: (11) 98968-7332 / (11) 95226-0675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David Quirino da Silva (RM 26712)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11 95221-5087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Carlos Henrique Augusto da Silva (RM 27775)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96455-2272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Responsável: Hellen ... Silva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 responsável: (11) 97991-9817 / (11) 98048-2495</a:t>
            </a:r>
            <a:endParaRPr lang="pt-BR"/>
          </a:p>
          <a:p>
            <a:pPr lvl="1"/>
            <a:r>
              <a:rPr lang="pt-BR"/>
              <a:t>Alto</a:t>
            </a:r>
          </a:p>
          <a:p>
            <a:r>
              <a:rPr lang="pt-BR" sz="1100">
                <a:latin typeface="Segoe UI"/>
                <a:cs typeface="Segoe UI"/>
              </a:rPr>
              <a:t>Juan Augusto Amaral Alves (RM 27717)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Menor de idade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95907-3252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Isabella Andrade de Melo (RM 27743)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93012-8410</a:t>
            </a:r>
            <a:endParaRPr lang="pt-BR"/>
          </a:p>
          <a:p>
            <a:pPr lvl="1"/>
            <a:r>
              <a:rPr lang="pt-BR"/>
              <a:t>Atenção</a:t>
            </a:r>
          </a:p>
          <a:p>
            <a:r>
              <a:rPr lang="pt-BR" sz="1100">
                <a:latin typeface="Segoe UI"/>
                <a:cs typeface="Segoe UI"/>
              </a:rPr>
              <a:t>Jean Pyetro Aguiar Dias (RM 26467)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96123-1580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Responsável: Carla ... Dias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 responsável: (11) 95404-9233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Julia Pascoal Estevam (RM 27700)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95865-9757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Responsável: Leandro ... Estevam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 responsável: (11) 98325-4174 / (11) 95907-7571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Luan Guilherme Alves Farias (RM 27710)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96729-1550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Luana de Moraes Urashima Kinoshita (RM 27670)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98976-3575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Vinycius Fabri Oliveira Campos (RM 27682)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99760-8101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Responsável: Evelize ... Santos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 responsável: (11) 97078-8826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Paula Cristina Silva Rocha (RM 23124)</a:t>
            </a:r>
            <a:endParaRPr lang="pt-BR"/>
          </a:p>
          <a:p>
            <a:pPr lvl="1"/>
            <a:r>
              <a:rPr lang="pt-BR" sz="1100">
                <a:latin typeface="Segoe UI"/>
                <a:cs typeface="Segoe UI"/>
              </a:rPr>
              <a:t>Celular: (11) 97876-4983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7855F4-BA50-16BC-66F1-E9335839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168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E53D8-9FEA-086D-A210-06C39213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02" y="258448"/>
            <a:ext cx="7042070" cy="364769"/>
          </a:xfrm>
        </p:spPr>
        <p:txBody>
          <a:bodyPr>
            <a:normAutofit fontScale="90000"/>
          </a:bodyPr>
          <a:lstStyle/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pt-BR" sz="1800"/>
              <a:t>Evadidos sem retorno</a:t>
            </a: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16EF5-1B06-A0CF-F9C8-17E0B509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Evadidos sem retorno</a:t>
            </a:r>
          </a:p>
          <a:p>
            <a:r>
              <a:rPr lang="pt-BR" sz="1100">
                <a:latin typeface="Segoe UI"/>
                <a:cs typeface="Segoe UI"/>
              </a:rPr>
              <a:t>Davi ... Seguins (RM 27735)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Paulo ... Custódio (RM 27664)</a:t>
            </a:r>
            <a:endParaRPr lang="pt-BR"/>
          </a:p>
          <a:p>
            <a:r>
              <a:rPr lang="pt-BR" sz="1100">
                <a:latin typeface="Segoe UI"/>
                <a:cs typeface="Segoe UI"/>
              </a:rPr>
              <a:t>Caio ... Silva (RM 27660)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B56744-143C-2CC4-B1AC-B66D682F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41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A4BBD-0D3A-D0C1-88D5-7C1C0FB7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6A704-639B-0892-0053-E0BEAD88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14/08/2026</a:t>
            </a:fld>
            <a:endParaRPr lang="en-US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6232ADE-629D-E69F-8412-6C0E31573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07" t="23968" r="41339" b="21746"/>
          <a:stretch/>
        </p:blipFill>
        <p:spPr>
          <a:xfrm>
            <a:off x="7380608" y="2334656"/>
            <a:ext cx="2079171" cy="372291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3E4EFCC-10BA-0E05-9E7F-D2761564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75" t="22064" r="41071" b="21746"/>
          <a:stretch/>
        </p:blipFill>
        <p:spPr>
          <a:xfrm>
            <a:off x="9723705" y="1857060"/>
            <a:ext cx="2079171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0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A37F-E9B3-6CD5-4F13-4CEC6EA6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C28DD-54F8-6668-083D-8817057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40" y="4473679"/>
            <a:ext cx="11071657" cy="123325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dirty="0"/>
              <a:t>APRESENTAÇÃO </a:t>
            </a:r>
            <a:r>
              <a:rPr lang="en-US" sz="4100" b="1" dirty="0" err="1"/>
              <a:t>tcc</a:t>
            </a:r>
            <a:r>
              <a:rPr lang="en-US" sz="4100" b="1" dirty="0"/>
              <a:t>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50CEB5-A475-F19E-3A16-F0DDD713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0F69F-8148-3BF8-CB83-0DE78C37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smtClean="0"/>
              <a:pPr>
                <a:spcAft>
                  <a:spcPts val="600"/>
                </a:spcAft>
              </a:pPr>
              <a:t>8/14/2026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5506CF-0E3B-1F88-0EF1-94695BFD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03" t="22699" r="21875" b="23174"/>
          <a:stretch/>
        </p:blipFill>
        <p:spPr>
          <a:xfrm>
            <a:off x="217713" y="141514"/>
            <a:ext cx="6683829" cy="37120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6B459DF-6D4B-32DD-62E3-70A57AFEC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75" t="24127" r="21875" b="21905"/>
          <a:stretch/>
        </p:blipFill>
        <p:spPr>
          <a:xfrm>
            <a:off x="228598" y="3015343"/>
            <a:ext cx="6858000" cy="370114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4A32C41-5FCC-5D6C-F225-DFBC2D2AC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13" t="24445" r="21237" b="20317"/>
          <a:stretch/>
        </p:blipFill>
        <p:spPr>
          <a:xfrm>
            <a:off x="6335486" y="22204"/>
            <a:ext cx="6858000" cy="378822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949F25B-537A-6E3F-8F0C-6E38920B22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963" t="25707" r="21429" b="21577"/>
          <a:stretch/>
        </p:blipFill>
        <p:spPr>
          <a:xfrm>
            <a:off x="6570776" y="3282670"/>
            <a:ext cx="5682343" cy="361526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7E49487-15DB-EB12-566A-A6FED2A00A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483" t="25273" r="26249" b="22011"/>
          <a:stretch/>
        </p:blipFill>
        <p:spPr>
          <a:xfrm>
            <a:off x="6375287" y="1380083"/>
            <a:ext cx="3032463" cy="254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54729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5450</TotalTime>
  <Words>225</Words>
  <Application>Microsoft Office PowerPoint</Application>
  <PresentationFormat>Widescreen</PresentationFormat>
  <Paragraphs>110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Pacote</vt:lpstr>
      <vt:lpstr>Apresentação do PowerPoint</vt:lpstr>
      <vt:lpstr>Alunos matriculados – 2025 -02 CONTABILIDADE</vt:lpstr>
      <vt:lpstr>Gráfico de Matrículas</vt:lpstr>
      <vt:lpstr>EVASÃO</vt:lpstr>
      <vt:lpstr>NÚMERO DE MATRICULADOS POR SEMESTRE - PAINEL GERAL</vt:lpstr>
      <vt:lpstr>Número de Ocorrências</vt:lpstr>
      <vt:lpstr>Integração 18/09/2025</vt:lpstr>
      <vt:lpstr>reuniões</vt:lpstr>
      <vt:lpstr>Reunião com representantes</vt:lpstr>
      <vt:lpstr>Reunião professores</vt:lpstr>
      <vt:lpstr>Acolhimento e orientações iniciais</vt:lpstr>
      <vt:lpstr>PALESTRA – EMPREENDEDORISMO, COMO GANHAR DINHEIRO. 11/09/2025</vt:lpstr>
      <vt:lpstr>PALESTRAs EGRESSOS  </vt:lpstr>
      <vt:lpstr>Workshops EGRESSOS  </vt:lpstr>
      <vt:lpstr>DIA DO CONTADOR</vt:lpstr>
      <vt:lpstr>Palestra – OPORTUNIDADES AO NOVOS PROFISSIONAIS</vt:lpstr>
      <vt:lpstr>Apresentação do PowerPoint</vt:lpstr>
      <vt:lpstr>Semana TECNOLÓGICA, APRESENTAÇÃO DE PROJETOS e apresentação de tcc</vt:lpstr>
      <vt:lpstr>Combate a evasão: busca ativa</vt:lpstr>
      <vt:lpstr>Apresentação do PowerPoint</vt:lpstr>
      <vt:lpstr>Alunos que NÃO retornaram o e-mail (até o momento)</vt:lpstr>
      <vt:lpstr>Evadidos sem retorno</vt:lpstr>
      <vt:lpstr>projetos</vt:lpstr>
      <vt:lpstr>APRESENTAÇÃO tcc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Giovanna Lettieri</dc:creator>
  <cp:lastModifiedBy>Madalena Oliveira Lima</cp:lastModifiedBy>
  <cp:revision>90</cp:revision>
  <dcterms:created xsi:type="dcterms:W3CDTF">2025-07-04T01:16:22Z</dcterms:created>
  <dcterms:modified xsi:type="dcterms:W3CDTF">2026-08-14T13:12:54Z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2025-12-17T17:41:24Z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267d015c-cedf-49cc-b38d-57335558e980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